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handoutMasterIdLst>
    <p:handoutMasterId r:id="rId27"/>
  </p:handoutMasterIdLst>
  <p:sldIdLst>
    <p:sldId id="408" r:id="rId5"/>
    <p:sldId id="460" r:id="rId6"/>
    <p:sldId id="461" r:id="rId7"/>
    <p:sldId id="462" r:id="rId8"/>
    <p:sldId id="473" r:id="rId9"/>
    <p:sldId id="463" r:id="rId10"/>
    <p:sldId id="464" r:id="rId11"/>
    <p:sldId id="467" r:id="rId12"/>
    <p:sldId id="474" r:id="rId13"/>
    <p:sldId id="468" r:id="rId14"/>
    <p:sldId id="476" r:id="rId15"/>
    <p:sldId id="465" r:id="rId16"/>
    <p:sldId id="477" r:id="rId17"/>
    <p:sldId id="470" r:id="rId18"/>
    <p:sldId id="478" r:id="rId19"/>
    <p:sldId id="469" r:id="rId20"/>
    <p:sldId id="479" r:id="rId21"/>
    <p:sldId id="471" r:id="rId22"/>
    <p:sldId id="472" r:id="rId23"/>
    <p:sldId id="480" r:id="rId24"/>
    <p:sldId id="481" r:id="rId25"/>
  </p:sldIdLst>
  <p:sldSz cx="9906000" cy="6858000" type="A4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230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nnis Charalabidis" initials="YC" lastIdx="1" clrIdx="0">
    <p:extLst>
      <p:ext uri="{19B8F6BF-5375-455C-9EA6-DF929625EA0E}">
        <p15:presenceInfo xmlns:p15="http://schemas.microsoft.com/office/powerpoint/2012/main" userId="c15dc7d15686c92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5DA"/>
    <a:srgbClr val="993300"/>
    <a:srgbClr val="CC0000"/>
    <a:srgbClr val="626262"/>
    <a:srgbClr val="D3DDFD"/>
    <a:srgbClr val="333399"/>
    <a:srgbClr val="D9FFB3"/>
    <a:srgbClr val="000066"/>
    <a:srgbClr val="006600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B4CF00-0293-49D5-AC43-07B07E65C69D}" v="14" dt="2026-01-14T19:19:28.323"/>
    <p1510:client id="{F3EDE881-0814-439C-9934-5DF33B538657}" v="1234" dt="2026-01-14T19:38:24.5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96" y="108"/>
      </p:cViewPr>
      <p:guideLst>
        <p:guide orient="horz" pos="1392"/>
        <p:guide pos="23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115" tIns="49058" rIns="98115" bIns="49058" numCol="1" anchor="t" anchorCtr="0" compatLnSpc="1">
            <a:prstTxWarp prst="textNoShape">
              <a:avLst/>
            </a:prstTxWarp>
          </a:bodyPr>
          <a:lstStyle>
            <a:lvl1pPr defTabSz="981075">
              <a:defRPr sz="1300"/>
            </a:lvl1pPr>
          </a:lstStyle>
          <a:p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115" tIns="49058" rIns="98115" bIns="49058" numCol="1" anchor="t" anchorCtr="0" compatLnSpc="1">
            <a:prstTxWarp prst="textNoShape">
              <a:avLst/>
            </a:prstTxWarp>
          </a:bodyPr>
          <a:lstStyle>
            <a:lvl1pPr algn="r" defTabSz="981075">
              <a:defRPr sz="1300"/>
            </a:lvl1pPr>
          </a:lstStyle>
          <a:p>
            <a:endParaRPr lang="en-US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115" tIns="49058" rIns="98115" bIns="49058" numCol="1" anchor="b" anchorCtr="0" compatLnSpc="1">
            <a:prstTxWarp prst="textNoShape">
              <a:avLst/>
            </a:prstTxWarp>
          </a:bodyPr>
          <a:lstStyle>
            <a:lvl1pPr defTabSz="981075">
              <a:defRPr sz="1300"/>
            </a:lvl1pPr>
          </a:lstStyle>
          <a:p>
            <a:endParaRPr lang="en-US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1850"/>
            <a:ext cx="3074987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115" tIns="49058" rIns="98115" bIns="49058" numCol="1" anchor="b" anchorCtr="0" compatLnSpc="1">
            <a:prstTxWarp prst="textNoShape">
              <a:avLst/>
            </a:prstTxWarp>
          </a:bodyPr>
          <a:lstStyle>
            <a:lvl1pPr algn="r" defTabSz="981075">
              <a:defRPr sz="1300"/>
            </a:lvl1pPr>
          </a:lstStyle>
          <a:p>
            <a:fld id="{C8E79374-35A5-4DFD-A2F4-CC03F09F4E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115" tIns="49058" rIns="98115" bIns="49058" numCol="1" anchor="t" anchorCtr="0" compatLnSpc="1">
            <a:prstTxWarp prst="textNoShape">
              <a:avLst/>
            </a:prstTxWarp>
          </a:bodyPr>
          <a:lstStyle>
            <a:lvl1pPr defTabSz="981075">
              <a:defRPr sz="1300"/>
            </a:lvl1pPr>
          </a:lstStyle>
          <a:p>
            <a:endParaRPr lang="en-GB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115" tIns="49058" rIns="98115" bIns="49058" numCol="1" anchor="t" anchorCtr="0" compatLnSpc="1">
            <a:prstTxWarp prst="textNoShape">
              <a:avLst/>
            </a:prstTxWarp>
          </a:bodyPr>
          <a:lstStyle>
            <a:lvl1pPr algn="r" defTabSz="981075">
              <a:defRPr sz="1300"/>
            </a:lvl1pPr>
          </a:lstStyle>
          <a:p>
            <a:endParaRPr lang="en-GB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84225" y="796925"/>
            <a:ext cx="5532438" cy="3830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7275"/>
            <a:ext cx="5207000" cy="462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115" tIns="49058" rIns="98115" bIns="4905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32963"/>
            <a:ext cx="3074988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115" tIns="49058" rIns="98115" bIns="49058" numCol="1" anchor="b" anchorCtr="0" compatLnSpc="1">
            <a:prstTxWarp prst="textNoShape">
              <a:avLst/>
            </a:prstTxWarp>
          </a:bodyPr>
          <a:lstStyle>
            <a:lvl1pPr defTabSz="981075">
              <a:defRPr sz="1300"/>
            </a:lvl1pPr>
          </a:lstStyle>
          <a:p>
            <a:endParaRPr lang="en-GB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32963"/>
            <a:ext cx="30749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115" tIns="49058" rIns="98115" bIns="49058" numCol="1" anchor="b" anchorCtr="0" compatLnSpc="1">
            <a:prstTxWarp prst="textNoShape">
              <a:avLst/>
            </a:prstTxWarp>
          </a:bodyPr>
          <a:lstStyle>
            <a:lvl1pPr algn="r" defTabSz="981075">
              <a:defRPr sz="1300"/>
            </a:lvl1pPr>
          </a:lstStyle>
          <a:p>
            <a:fld id="{D377E79F-29E9-4E00-88CA-C3CB4E30C4C8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TITLE</a:t>
            </a:r>
            <a:r>
              <a:rPr lang="en-US" baseline="0"/>
              <a:t> &amp; LOGOS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0581D-F4C6-4CC7-B014-E13E48A85B51}" type="slidenum">
              <a:rPr lang="el-GR" smtClean="0"/>
              <a:pPr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19471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7E79F-29E9-4E00-88CA-C3CB4E30C4C8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983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20133" y="1"/>
            <a:ext cx="4093104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4646" y="914401"/>
            <a:ext cx="7526054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67925" y="4402667"/>
            <a:ext cx="6242777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36255" y="6117337"/>
            <a:ext cx="928929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25711" y="6117337"/>
            <a:ext cx="391022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64930" y="6117337"/>
            <a:ext cx="445770" cy="365125"/>
          </a:xfrm>
        </p:spPr>
        <p:txBody>
          <a:bodyPr/>
          <a:lstStyle/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20133" y="3771900"/>
            <a:ext cx="392113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" name="Freeform 13"/>
          <p:cNvSpPr/>
          <p:nvPr/>
        </p:nvSpPr>
        <p:spPr bwMode="auto">
          <a:xfrm>
            <a:off x="607088" y="3867150"/>
            <a:ext cx="67072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241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978" y="457201"/>
            <a:ext cx="8346723" cy="19812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978" y="2667000"/>
            <a:ext cx="8346723" cy="333281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56357" y="6108174"/>
            <a:ext cx="928929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37035" y="6108174"/>
            <a:ext cx="575739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47215" y="6108174"/>
            <a:ext cx="463486" cy="365125"/>
          </a:xfrm>
        </p:spPr>
        <p:txBody>
          <a:bodyPr/>
          <a:lstStyle/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91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579" y="2666999"/>
            <a:ext cx="7258122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52581" y="5027070"/>
            <a:ext cx="7258119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62761" y="6116071"/>
            <a:ext cx="447940" cy="365125"/>
          </a:xfrm>
        </p:spPr>
        <p:txBody>
          <a:bodyPr/>
          <a:lstStyle/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04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978" y="685802"/>
            <a:ext cx="8346723" cy="175259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3977" y="2667000"/>
            <a:ext cx="4051554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9146" y="2667000"/>
            <a:ext cx="4051554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13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0272" y="2658533"/>
            <a:ext cx="3744315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6316" y="3335337"/>
            <a:ext cx="3978269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91852" y="2667000"/>
            <a:ext cx="375679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0371" y="3335337"/>
            <a:ext cx="3978269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41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38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86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318" y="1600200"/>
            <a:ext cx="288441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516" y="685801"/>
            <a:ext cx="5072126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06318" y="2971800"/>
            <a:ext cx="2884412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26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5027" y="1752599"/>
            <a:ext cx="4409902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72287" y="914400"/>
            <a:ext cx="2666485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05027" y="3124199"/>
            <a:ext cx="4409902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78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317" y="4732865"/>
            <a:ext cx="814232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39140" y="932112"/>
            <a:ext cx="6685320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06317" y="5299603"/>
            <a:ext cx="8142324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217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318" y="685800"/>
            <a:ext cx="8142324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6318" y="4343400"/>
            <a:ext cx="8142325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96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050207" y="863023"/>
            <a:ext cx="49542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3214" y="2819399"/>
            <a:ext cx="49542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5637" y="685801"/>
            <a:ext cx="7555291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31421" y="3428999"/>
            <a:ext cx="7183722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6317" y="4343400"/>
            <a:ext cx="8142324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50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320" y="3308581"/>
            <a:ext cx="8142321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6317" y="4777381"/>
            <a:ext cx="8142323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47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050207" y="863023"/>
            <a:ext cx="49542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3214" y="2819399"/>
            <a:ext cx="49542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5637" y="685801"/>
            <a:ext cx="7555291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06319" y="3886200"/>
            <a:ext cx="8142323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6317" y="4775200"/>
            <a:ext cx="8142323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99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319" y="685802"/>
            <a:ext cx="8142324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06318" y="3505200"/>
            <a:ext cx="8142325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6318" y="4343400"/>
            <a:ext cx="8142325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6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5898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09843" y="685800"/>
            <a:ext cx="1438800" cy="5105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06318" y="685800"/>
            <a:ext cx="6517737" cy="51054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12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1"/>
            <a:ext cx="2309681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3978" y="457201"/>
            <a:ext cx="8346723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3978" y="2667001"/>
            <a:ext cx="8346722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71903" y="6116071"/>
            <a:ext cx="9289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52581" y="6116071"/>
            <a:ext cx="57573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62761" y="6116071"/>
            <a:ext cx="4479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D37C931-9E5C-4644-94BA-DE5F2273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93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3424238" y="2166938"/>
            <a:ext cx="6481762" cy="1798637"/>
          </a:xfrm>
        </p:spPr>
        <p:txBody>
          <a:bodyPr>
            <a:noAutofit/>
          </a:bodyPr>
          <a:lstStyle/>
          <a:p>
            <a:pPr algn="l"/>
            <a:br>
              <a:rPr lang="en-US" sz="2400">
                <a:solidFill>
                  <a:schemeClr val="tx1"/>
                </a:solidFill>
                <a:effectLst/>
                <a:latin typeface="Lucida Bright" panose="02040602050505020304" pitchFamily="18" charset="0"/>
              </a:rPr>
            </a:br>
            <a:r>
              <a:rPr lang="en-US" sz="2400">
                <a:solidFill>
                  <a:schemeClr val="tx1"/>
                </a:solidFill>
                <a:effectLst/>
                <a:latin typeface="Lucida Bright" panose="02040602050505020304" pitchFamily="18" charset="0"/>
              </a:rPr>
              <a:t>OceanDrones</a:t>
            </a:r>
            <a:br>
              <a:rPr lang="el-GR" sz="2800">
                <a:solidFill>
                  <a:schemeClr val="tx1"/>
                </a:solidFill>
                <a:effectLst/>
                <a:latin typeface="Lucida Bright" panose="02040602050505020304" pitchFamily="18" charset="0"/>
              </a:rPr>
            </a:br>
            <a:r>
              <a:rPr lang="en-GB" b="0"/>
              <a:t>Dive Deeper. Discover More.</a:t>
            </a:r>
            <a:br>
              <a:rPr lang="en-US" sz="2800">
                <a:solidFill>
                  <a:schemeClr val="accent2">
                    <a:lumMod val="50000"/>
                  </a:schemeClr>
                </a:solidFill>
                <a:latin typeface="Lucida Bright" panose="02040602050505020304" pitchFamily="18" charset="0"/>
              </a:rPr>
            </a:br>
            <a:endParaRPr lang="el-GR" sz="2400">
              <a:solidFill>
                <a:schemeClr val="tx1"/>
              </a:solidFill>
              <a:effectLst/>
              <a:latin typeface="Arial Black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34338" y="4666641"/>
            <a:ext cx="541039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>
                <a:latin typeface="+mn-lt"/>
              </a:rPr>
              <a:t>Team Members</a:t>
            </a:r>
            <a:endParaRPr lang="el-GR" sz="1600" b="1">
              <a:latin typeface="+mn-lt"/>
            </a:endParaRPr>
          </a:p>
          <a:p>
            <a:r>
              <a:rPr lang="en-US" sz="1600">
                <a:latin typeface="+mn-lt"/>
              </a:rPr>
              <a:t>Dionisios Tzalokostas, 3212024215</a:t>
            </a:r>
          </a:p>
          <a:p>
            <a:r>
              <a:rPr lang="en-US" sz="1600">
                <a:latin typeface="+mn-lt"/>
              </a:rPr>
              <a:t>Spyridon Chovolos, 3212024246</a:t>
            </a:r>
          </a:p>
          <a:p>
            <a:r>
              <a:rPr lang="en-US" sz="1600">
                <a:latin typeface="+mn-lt"/>
              </a:rPr>
              <a:t>Iraklis Kritikou, 3212024112</a:t>
            </a:r>
          </a:p>
          <a:p>
            <a:endParaRPr lang="en-US" sz="1600">
              <a:latin typeface="+mn-lt"/>
            </a:endParaRPr>
          </a:p>
          <a:p>
            <a:endParaRPr lang="en-US" sz="1600">
              <a:latin typeface="+mn-lt"/>
            </a:endParaRPr>
          </a:p>
          <a:p>
            <a:endParaRPr lang="en-US" sz="1600">
              <a:latin typeface="+mn-lt"/>
            </a:endParaRPr>
          </a:p>
          <a:p>
            <a:endParaRPr lang="en-US" sz="1600" i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767155-3105-AFAA-703B-26D15AC8F7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338" y="188640"/>
            <a:ext cx="5751237" cy="6926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737B742-BFD3-AB16-1053-2716F96A0921}"/>
              </a:ext>
            </a:extLst>
          </p:cNvPr>
          <p:cNvSpPr/>
          <p:nvPr/>
        </p:nvSpPr>
        <p:spPr>
          <a:xfrm>
            <a:off x="3134338" y="900926"/>
            <a:ext cx="6427174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>
                <a:cs typeface="Times New Roman" panose="02020603050405020304" pitchFamily="18" charset="0"/>
              </a:rPr>
              <a:t>Course: Digital Innovation and Entrepreneurship / 3</a:t>
            </a:r>
            <a:r>
              <a:rPr lang="en-US" sz="1400" baseline="30000">
                <a:cs typeface="Times New Roman" panose="02020603050405020304" pitchFamily="18" charset="0"/>
              </a:rPr>
              <a:t>rd</a:t>
            </a:r>
            <a:r>
              <a:rPr lang="en-US" sz="1400">
                <a:cs typeface="Times New Roman" panose="02020603050405020304" pitchFamily="18" charset="0"/>
              </a:rPr>
              <a:t> Semester</a:t>
            </a:r>
          </a:p>
          <a:p>
            <a:r>
              <a:rPr lang="en-US" sz="1400">
                <a:cs typeface="Times New Roman" panose="02020603050405020304" pitchFamily="18" charset="0"/>
              </a:rPr>
              <a:t>Professor: Yannis Charalabidis. Academic Year: 2025-2026</a:t>
            </a:r>
          </a:p>
          <a:p>
            <a:endParaRPr lang="en-US" sz="1400">
              <a:cs typeface="Times New Roman" panose="02020603050405020304" pitchFamily="18" charset="0"/>
            </a:endParaRPr>
          </a:p>
          <a:p>
            <a:endParaRPr lang="en-US" sz="1400">
              <a:cs typeface="Times New Roman" panose="02020603050405020304" pitchFamily="18" charset="0"/>
            </a:endParaRPr>
          </a:p>
          <a:p>
            <a:endParaRPr lang="en-US" sz="1400">
              <a:cs typeface="Times New Roman" panose="02020603050405020304" pitchFamily="18" charset="0"/>
            </a:endParaRPr>
          </a:p>
          <a:p>
            <a:endParaRPr lang="en-US" sz="1400">
              <a:cs typeface="Times New Roman" panose="02020603050405020304" pitchFamily="18" charset="0"/>
            </a:endParaRPr>
          </a:p>
          <a:p>
            <a:endParaRPr lang="en-US" sz="1400" i="1"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E71EF08-FC08-7D83-59A2-6A19CF5B9DBF}"/>
              </a:ext>
            </a:extLst>
          </p:cNvPr>
          <p:cNvSpPr txBox="1">
            <a:spLocks/>
          </p:cNvSpPr>
          <p:nvPr/>
        </p:nvSpPr>
        <p:spPr bwMode="auto">
          <a:xfrm>
            <a:off x="200472" y="2167067"/>
            <a:ext cx="2304256" cy="1799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0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Arial" charset="0"/>
              </a:defRPr>
            </a:lvl9pPr>
          </a:lstStyle>
          <a:p>
            <a:pPr algn="l"/>
            <a:br>
              <a:rPr lang="en-US" kern="0">
                <a:solidFill>
                  <a:schemeClr val="tx1"/>
                </a:solidFill>
                <a:latin typeface="Lucida Bright" panose="02040602050505020304" pitchFamily="18" charset="0"/>
              </a:rPr>
            </a:br>
            <a:br>
              <a:rPr lang="en-US" sz="2800" kern="0">
                <a:solidFill>
                  <a:schemeClr val="accent2">
                    <a:lumMod val="50000"/>
                  </a:schemeClr>
                </a:solidFill>
                <a:latin typeface="Lucida Bright" panose="02040602050505020304" pitchFamily="18" charset="0"/>
              </a:rPr>
            </a:br>
            <a:endParaRPr lang="el-GR" kern="0">
              <a:solidFill>
                <a:schemeClr val="tx1"/>
              </a:solidFill>
              <a:latin typeface="Arial Black" pitchFamily="34" charset="0"/>
            </a:endParaRPr>
          </a:p>
        </p:txBody>
      </p:sp>
      <p:pic>
        <p:nvPicPr>
          <p:cNvPr id="4" name="Picture 3" descr="A blue logo with text&#10;&#10;AI-generated content may be incorrect.">
            <a:extLst>
              <a:ext uri="{FF2B5EF4-FFF2-40B4-BE49-F238E27FC236}">
                <a16:creationId xmlns:a16="http://schemas.microsoft.com/office/drawing/2014/main" id="{3A911935-B219-C7E9-4EA9-7EA71409EE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6396" y="1352613"/>
            <a:ext cx="4445243" cy="296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995316"/>
      </p:ext>
    </p:extLst>
  </p:cSld>
  <p:clrMapOvr>
    <a:masterClrMapping/>
  </p:clrMapOvr>
  <p:transition spd="med">
    <p:circl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2F2A-97B1-99D5-D4F3-6614E5D66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977" y="0"/>
            <a:ext cx="8346723" cy="1225294"/>
          </a:xfrm>
        </p:spPr>
        <p:txBody>
          <a:bodyPr>
            <a:normAutofit/>
          </a:bodyPr>
          <a:lstStyle/>
          <a:p>
            <a:r>
              <a:rPr kumimoji="0" lang="en-US" sz="2800" b="1" i="1" u="none" strike="noStrike" kern="1200" cap="none" spc="0" normalizeH="0" baseline="0" noProof="0" dirty="0">
                <a:ln w="3175" cmpd="sng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Ocean Drones – Professional Underwater Drone Services</a:t>
            </a:r>
            <a:endParaRPr lang="el-G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B21CD0-8B4F-9E4A-1785-732DD579885F}"/>
              </a:ext>
            </a:extLst>
          </p:cNvPr>
          <p:cNvSpPr txBox="1"/>
          <p:nvPr/>
        </p:nvSpPr>
        <p:spPr>
          <a:xfrm>
            <a:off x="3321955" y="1476341"/>
            <a:ext cx="2180165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/>
              <a:t>Vision</a:t>
            </a:r>
            <a:r>
              <a:rPr lang="el-GR"/>
              <a:t>🌍</a:t>
            </a:r>
            <a:endParaRPr lang="en-US" b="1" i="1"/>
          </a:p>
          <a:p>
            <a:pPr algn="ctr"/>
            <a:endParaRPr lang="en-US">
              <a:latin typeface="+mj-lt"/>
            </a:endParaRPr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/>
              <a:t>We want to make underwater data accessible, safe, and affordable.</a:t>
            </a:r>
          </a:p>
          <a:p>
            <a:pPr>
              <a:buSzPct val="145000"/>
            </a:pPr>
            <a:endParaRPr lang="en-US" sz="150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/>
              <a:t>We also want to support marine research, infrastructure safety and environmental protection</a:t>
            </a:r>
          </a:p>
        </p:txBody>
      </p:sp>
      <p:cxnSp>
        <p:nvCxnSpPr>
          <p:cNvPr id="16" name="Ευθεία γραμμή σύνδεσης 15">
            <a:extLst>
              <a:ext uri="{FF2B5EF4-FFF2-40B4-BE49-F238E27FC236}">
                <a16:creationId xmlns:a16="http://schemas.microsoft.com/office/drawing/2014/main" id="{BB81EB2A-9DAD-89FA-8298-BA5CD432CF61}"/>
              </a:ext>
            </a:extLst>
          </p:cNvPr>
          <p:cNvCxnSpPr>
            <a:cxnSpLocks/>
          </p:cNvCxnSpPr>
          <p:nvPr/>
        </p:nvCxnSpPr>
        <p:spPr>
          <a:xfrm>
            <a:off x="3218688" y="1347019"/>
            <a:ext cx="0" cy="37119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Ευθεία γραμμή σύνδεσης 20">
            <a:extLst>
              <a:ext uri="{FF2B5EF4-FFF2-40B4-BE49-F238E27FC236}">
                <a16:creationId xmlns:a16="http://schemas.microsoft.com/office/drawing/2014/main" id="{9BE0383D-CFE0-AA10-503F-5756A2FAF20B}"/>
              </a:ext>
            </a:extLst>
          </p:cNvPr>
          <p:cNvCxnSpPr>
            <a:cxnSpLocks/>
          </p:cNvCxnSpPr>
          <p:nvPr/>
        </p:nvCxnSpPr>
        <p:spPr>
          <a:xfrm flipH="1">
            <a:off x="5469673" y="1347019"/>
            <a:ext cx="18905" cy="37762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Ευθεία γραμμή σύνδεσης 21">
            <a:extLst>
              <a:ext uri="{FF2B5EF4-FFF2-40B4-BE49-F238E27FC236}">
                <a16:creationId xmlns:a16="http://schemas.microsoft.com/office/drawing/2014/main" id="{6AFC71C2-7E04-6206-A315-1DE15AD8E99E}"/>
              </a:ext>
            </a:extLst>
          </p:cNvPr>
          <p:cNvCxnSpPr>
            <a:cxnSpLocks/>
          </p:cNvCxnSpPr>
          <p:nvPr/>
        </p:nvCxnSpPr>
        <p:spPr>
          <a:xfrm>
            <a:off x="7673627" y="1347019"/>
            <a:ext cx="7178" cy="37303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9936FC0-7917-BBBC-8143-29ABBD8D03EF}"/>
              </a:ext>
            </a:extLst>
          </p:cNvPr>
          <p:cNvSpPr txBox="1"/>
          <p:nvPr/>
        </p:nvSpPr>
        <p:spPr>
          <a:xfrm>
            <a:off x="831992" y="1540349"/>
            <a:ext cx="228597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/>
              <a:t>What the company does</a:t>
            </a:r>
            <a:r>
              <a:rPr lang="el-GR"/>
              <a:t>🔧</a:t>
            </a:r>
            <a:r>
              <a:rPr lang="en-US" b="1" i="1"/>
              <a:t> </a:t>
            </a:r>
          </a:p>
          <a:p>
            <a:endParaRPr lang="en-US" sz="150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/>
              <a:t>We provide underwater (ROV) drone services</a:t>
            </a:r>
          </a:p>
          <a:p>
            <a:pPr>
              <a:buSzPct val="145000"/>
            </a:pPr>
            <a:endParaRPr lang="en-US" sz="150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/>
              <a:t>We operate commercial submersible drones. Not aerial, and no manufacturing.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A536BF-3CE5-F7A9-12B0-EF266B9AF028}"/>
              </a:ext>
            </a:extLst>
          </p:cNvPr>
          <p:cNvSpPr txBox="1"/>
          <p:nvPr/>
        </p:nvSpPr>
        <p:spPr>
          <a:xfrm>
            <a:off x="5556506" y="1476341"/>
            <a:ext cx="2060923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Main Offering</a:t>
            </a:r>
            <a:r>
              <a:rPr lang="el-GR" dirty="0"/>
              <a:t>🧭</a:t>
            </a:r>
            <a:endParaRPr lang="en-US" b="1" i="1" dirty="0"/>
          </a:p>
          <a:p>
            <a:pPr algn="ctr"/>
            <a:endParaRPr lang="en-US" sz="1500" dirty="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 dirty="0"/>
              <a:t>Inspections(ports, pipelines, cables)</a:t>
            </a:r>
          </a:p>
          <a:p>
            <a:pPr>
              <a:buSzPct val="145000"/>
            </a:pPr>
            <a:endParaRPr lang="en-US" sz="1500" dirty="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 dirty="0"/>
              <a:t>Environmental &amp; research monitoring</a:t>
            </a:r>
          </a:p>
          <a:p>
            <a:pPr>
              <a:buSzPct val="145000"/>
            </a:pPr>
            <a:endParaRPr lang="en-US" sz="1500" dirty="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 dirty="0"/>
              <a:t>Search &amp; Rescue support</a:t>
            </a:r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 b="1" dirty="0"/>
              <a:t>(Future) </a:t>
            </a:r>
            <a:r>
              <a:rPr lang="en-US" sz="1500" dirty="0"/>
              <a:t>ROV rental and training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F12414-09F3-27A4-35AB-DDDC42B50A60}"/>
              </a:ext>
            </a:extLst>
          </p:cNvPr>
          <p:cNvSpPr txBox="1"/>
          <p:nvPr/>
        </p:nvSpPr>
        <p:spPr>
          <a:xfrm>
            <a:off x="7787640" y="1476341"/>
            <a:ext cx="211836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/>
              <a:t>Main market</a:t>
            </a:r>
            <a:r>
              <a:rPr lang="el-GR"/>
              <a:t>🎯</a:t>
            </a:r>
            <a:endParaRPr lang="en-US" b="1" i="1"/>
          </a:p>
          <a:p>
            <a:pPr algn="ctr"/>
            <a:endParaRPr lang="en-US" sz="1500" b="1" i="1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/>
              <a:t>Ports</a:t>
            </a:r>
          </a:p>
          <a:p>
            <a:pPr>
              <a:buSzPct val="145000"/>
            </a:pPr>
            <a:endParaRPr lang="en-US" sz="150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/>
              <a:t>Municipalities</a:t>
            </a:r>
          </a:p>
          <a:p>
            <a:pPr>
              <a:buSzPct val="145000"/>
            </a:pPr>
            <a:endParaRPr lang="en-US" sz="150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/>
              <a:t>Coast Guard</a:t>
            </a:r>
          </a:p>
          <a:p>
            <a:pPr>
              <a:buSzPct val="145000"/>
            </a:pPr>
            <a:endParaRPr lang="en-US" sz="150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/>
              <a:t>Offshore energy companies</a:t>
            </a:r>
          </a:p>
          <a:p>
            <a:pPr>
              <a:buSzPct val="145000"/>
            </a:pPr>
            <a:endParaRPr lang="en-US" sz="150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/>
              <a:t>Universities</a:t>
            </a:r>
          </a:p>
          <a:p>
            <a:pPr>
              <a:buSzPct val="145000"/>
            </a:pPr>
            <a:endParaRPr lang="en-US" sz="150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/>
              <a:t>Environmental agencies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ED9DFA-1FB7-A3FD-2344-52D1C2B3EB4A}"/>
              </a:ext>
            </a:extLst>
          </p:cNvPr>
          <p:cNvSpPr txBox="1"/>
          <p:nvPr/>
        </p:nvSpPr>
        <p:spPr>
          <a:xfrm>
            <a:off x="2767918" y="5770710"/>
            <a:ext cx="5577176" cy="1015663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 dirty="0"/>
              <a:t>Service fees per mission</a:t>
            </a:r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 dirty="0"/>
              <a:t>Long-term contracts</a:t>
            </a:r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 dirty="0"/>
              <a:t>Data analysis packages	</a:t>
            </a:r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 dirty="0"/>
              <a:t>Equipment + operator leasing</a:t>
            </a:r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500" dirty="0"/>
              <a:t>Training &amp; research programs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32F784-CECF-D271-E25B-220598F9B0D4}"/>
              </a:ext>
            </a:extLst>
          </p:cNvPr>
          <p:cNvSpPr txBox="1"/>
          <p:nvPr/>
        </p:nvSpPr>
        <p:spPr>
          <a:xfrm>
            <a:off x="4437604" y="5181604"/>
            <a:ext cx="2180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/>
              <a:t>Revenue Model</a:t>
            </a:r>
            <a:r>
              <a:rPr lang="el-GR"/>
              <a:t>💰</a:t>
            </a:r>
            <a:endParaRPr lang="en-US" b="1" i="1"/>
          </a:p>
        </p:txBody>
      </p:sp>
      <p:cxnSp>
        <p:nvCxnSpPr>
          <p:cNvPr id="46" name="Ευθεία γραμμή σύνδεσης 45">
            <a:extLst>
              <a:ext uri="{FF2B5EF4-FFF2-40B4-BE49-F238E27FC236}">
                <a16:creationId xmlns:a16="http://schemas.microsoft.com/office/drawing/2014/main" id="{74C0549C-F46C-5BC2-6B9E-B67539793CCD}"/>
              </a:ext>
            </a:extLst>
          </p:cNvPr>
          <p:cNvCxnSpPr/>
          <p:nvPr/>
        </p:nvCxnSpPr>
        <p:spPr>
          <a:xfrm>
            <a:off x="2681256" y="5648032"/>
            <a:ext cx="595274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7" name="Picture 3" descr="A blue logo with text&#10;&#10;AI-generated content may be incorrect.">
            <a:extLst>
              <a:ext uri="{FF2B5EF4-FFF2-40B4-BE49-F238E27FC236}">
                <a16:creationId xmlns:a16="http://schemas.microsoft.com/office/drawing/2014/main" id="{F4C9A5B2-9FEE-519F-6513-4E0C2C556C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49" y="118904"/>
            <a:ext cx="987469" cy="65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37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Διάγραμμα ροής: Διεργασία 28">
            <a:extLst>
              <a:ext uri="{FF2B5EF4-FFF2-40B4-BE49-F238E27FC236}">
                <a16:creationId xmlns:a16="http://schemas.microsoft.com/office/drawing/2014/main" id="{2004BA64-71F3-6B46-D6C9-650990F4B030}"/>
              </a:ext>
            </a:extLst>
          </p:cNvPr>
          <p:cNvSpPr/>
          <p:nvPr/>
        </p:nvSpPr>
        <p:spPr>
          <a:xfrm>
            <a:off x="5112774" y="1425677"/>
            <a:ext cx="4267190" cy="4535988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EE90A3-C2FE-9422-AE20-4F0476188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993" y="0"/>
            <a:ext cx="8478013" cy="1097279"/>
          </a:xfrm>
        </p:spPr>
        <p:txBody>
          <a:bodyPr>
            <a:normAutofit/>
          </a:bodyPr>
          <a:lstStyle/>
          <a:p>
            <a:r>
              <a:rPr lang="en-US" b="1" i="1" dirty="0"/>
              <a:t>The problem</a:t>
            </a:r>
            <a:endParaRPr lang="el-GR" b="1" i="1" dirty="0"/>
          </a:p>
        </p:txBody>
      </p:sp>
      <p:pic>
        <p:nvPicPr>
          <p:cNvPr id="3" name="Picture 3" descr="A blue logo with text&#10;&#10;AI-generated content may be incorrect.">
            <a:extLst>
              <a:ext uri="{FF2B5EF4-FFF2-40B4-BE49-F238E27FC236}">
                <a16:creationId xmlns:a16="http://schemas.microsoft.com/office/drawing/2014/main" id="{553CC2AA-9542-5B59-60EA-A272776D5F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49" y="118904"/>
            <a:ext cx="987469" cy="6583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88CA9A-4059-4E9C-7785-CE0A5807EC94}"/>
              </a:ext>
            </a:extLst>
          </p:cNvPr>
          <p:cNvSpPr txBox="1"/>
          <p:nvPr/>
        </p:nvSpPr>
        <p:spPr>
          <a:xfrm>
            <a:off x="1764274" y="1471628"/>
            <a:ext cx="18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/>
              <a:t>🔴</a:t>
            </a:r>
            <a:r>
              <a:rPr lang="en-US" b="1" i="1"/>
              <a:t>Main problem</a:t>
            </a:r>
            <a:endParaRPr lang="el-GR" b="1" i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41057-6007-9ADB-0DE9-1BB4CA37F3D8}"/>
              </a:ext>
            </a:extLst>
          </p:cNvPr>
          <p:cNvSpPr txBox="1"/>
          <p:nvPr/>
        </p:nvSpPr>
        <p:spPr>
          <a:xfrm>
            <a:off x="914398" y="1962144"/>
            <a:ext cx="3746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600"/>
              <a:t>Organizations lack </a:t>
            </a:r>
            <a:r>
              <a:rPr lang="en-US" sz="1600" b="1"/>
              <a:t>safe, affordable and fast</a:t>
            </a:r>
            <a:r>
              <a:rPr lang="en-US" sz="1600"/>
              <a:t> access to underwater inspections and monitoring.</a:t>
            </a:r>
            <a:endParaRPr lang="el-GR" sz="1600"/>
          </a:p>
        </p:txBody>
      </p:sp>
      <p:cxnSp>
        <p:nvCxnSpPr>
          <p:cNvPr id="10" name="Ευθεία γραμμή σύνδεσης 9">
            <a:extLst>
              <a:ext uri="{FF2B5EF4-FFF2-40B4-BE49-F238E27FC236}">
                <a16:creationId xmlns:a16="http://schemas.microsoft.com/office/drawing/2014/main" id="{5E170A73-99E5-D5AD-85E0-84E182F64625}"/>
              </a:ext>
            </a:extLst>
          </p:cNvPr>
          <p:cNvCxnSpPr>
            <a:cxnSpLocks/>
          </p:cNvCxnSpPr>
          <p:nvPr/>
        </p:nvCxnSpPr>
        <p:spPr>
          <a:xfrm>
            <a:off x="4778477" y="1425462"/>
            <a:ext cx="0" cy="49135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Ευθύγραμμο βέλος σύνδεσης 17">
            <a:extLst>
              <a:ext uri="{FF2B5EF4-FFF2-40B4-BE49-F238E27FC236}">
                <a16:creationId xmlns:a16="http://schemas.microsoft.com/office/drawing/2014/main" id="{A6FCF506-D0AB-938D-E59A-EBBBA0B41AC3}"/>
              </a:ext>
            </a:extLst>
          </p:cNvPr>
          <p:cNvCxnSpPr>
            <a:cxnSpLocks/>
          </p:cNvCxnSpPr>
          <p:nvPr/>
        </p:nvCxnSpPr>
        <p:spPr>
          <a:xfrm>
            <a:off x="2713087" y="2793141"/>
            <a:ext cx="4912" cy="4588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86BD0E9-813E-C9BD-B9DA-55E0380CAB2C}"/>
              </a:ext>
            </a:extLst>
          </p:cNvPr>
          <p:cNvSpPr txBox="1"/>
          <p:nvPr/>
        </p:nvSpPr>
        <p:spPr>
          <a:xfrm>
            <a:off x="5220944" y="1425462"/>
            <a:ext cx="3971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/>
              <a:t>🎯</a:t>
            </a:r>
            <a:r>
              <a:rPr lang="en-US" sz="2400" b="1" i="1"/>
              <a:t>So.. Who has this need?</a:t>
            </a:r>
            <a:endParaRPr lang="el-GR" sz="2400" b="1" i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FA5CBE-6C66-0E66-0A89-8F778F57C62C}"/>
              </a:ext>
            </a:extLst>
          </p:cNvPr>
          <p:cNvSpPr txBox="1"/>
          <p:nvPr/>
        </p:nvSpPr>
        <p:spPr>
          <a:xfrm>
            <a:off x="1133161" y="3693671"/>
            <a:ext cx="331102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600"/>
              <a:t>Global underwater robotics market exceeds </a:t>
            </a:r>
            <a:r>
              <a:rPr lang="en-US" sz="1600" b="1"/>
              <a:t>$5B</a:t>
            </a:r>
            <a:r>
              <a:rPr lang="en-US" sz="1600"/>
              <a:t>, validating strong and growing </a:t>
            </a:r>
            <a:r>
              <a:rPr lang="en-US" sz="1600" b="1"/>
              <a:t>global</a:t>
            </a:r>
            <a:r>
              <a:rPr lang="en-US" sz="1600"/>
              <a:t> demand</a:t>
            </a:r>
          </a:p>
          <a:p>
            <a:pPr>
              <a:buSzPct val="145000"/>
            </a:pPr>
            <a:endParaRPr lang="en-US" sz="160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600"/>
              <a:t>Subsea infrastructure requires </a:t>
            </a:r>
            <a:r>
              <a:rPr lang="en-US" sz="1600" b="1"/>
              <a:t>frequent</a:t>
            </a:r>
            <a:r>
              <a:rPr lang="en-US" sz="1600"/>
              <a:t> inspection</a:t>
            </a:r>
          </a:p>
          <a:p>
            <a:pPr>
              <a:buSzPct val="145000"/>
            </a:pPr>
            <a:endParaRPr lang="en-US" sz="160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1600"/>
              <a:t>Many organizations lack ROV equipment and trained operators </a:t>
            </a:r>
            <a:endParaRPr lang="el-GR" sz="16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9D261C-5EE4-C83A-E138-A86A87A81554}"/>
              </a:ext>
            </a:extLst>
          </p:cNvPr>
          <p:cNvSpPr txBox="1"/>
          <p:nvPr/>
        </p:nvSpPr>
        <p:spPr>
          <a:xfrm>
            <a:off x="2066918" y="3252020"/>
            <a:ext cx="1435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/>
              <a:t>📊</a:t>
            </a:r>
            <a:r>
              <a:rPr lang="en-US" b="1" i="1"/>
              <a:t>Evidence</a:t>
            </a:r>
            <a:endParaRPr lang="el-GR" b="1" i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280264-5A9C-D835-37AF-E37CFD2FE2F2}"/>
              </a:ext>
            </a:extLst>
          </p:cNvPr>
          <p:cNvSpPr txBox="1"/>
          <p:nvPr/>
        </p:nvSpPr>
        <p:spPr>
          <a:xfrm>
            <a:off x="5220945" y="2442189"/>
            <a:ext cx="437535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dirty="0"/>
              <a:t>Ports &amp; municipalities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dirty="0"/>
              <a:t>Coast Guard &amp; public safety agencies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dirty="0"/>
              <a:t>Offshore energy companies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dirty="0"/>
              <a:t>Universities &amp; research institutes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dirty="0"/>
              <a:t>Environmental agencies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930233262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Διάγραμμα ροής: Διεργασία 13">
            <a:extLst>
              <a:ext uri="{FF2B5EF4-FFF2-40B4-BE49-F238E27FC236}">
                <a16:creationId xmlns:a16="http://schemas.microsoft.com/office/drawing/2014/main" id="{5490080A-13C4-645C-AB5D-4BE6169F6543}"/>
              </a:ext>
            </a:extLst>
          </p:cNvPr>
          <p:cNvSpPr/>
          <p:nvPr/>
        </p:nvSpPr>
        <p:spPr>
          <a:xfrm>
            <a:off x="1134154" y="1450258"/>
            <a:ext cx="3636887" cy="4346841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3" name="Διάγραμμα ροής: Διεργασία 12">
            <a:extLst>
              <a:ext uri="{FF2B5EF4-FFF2-40B4-BE49-F238E27FC236}">
                <a16:creationId xmlns:a16="http://schemas.microsoft.com/office/drawing/2014/main" id="{B5497033-78A8-C41C-F33C-BEB93BE487C9}"/>
              </a:ext>
            </a:extLst>
          </p:cNvPr>
          <p:cNvSpPr/>
          <p:nvPr/>
        </p:nvSpPr>
        <p:spPr>
          <a:xfrm>
            <a:off x="5195920" y="1450257"/>
            <a:ext cx="4064056" cy="4346841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5529EA-920C-057C-6F2D-C9EBEB2C9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979" y="118904"/>
            <a:ext cx="8237338" cy="1355935"/>
          </a:xfrm>
        </p:spPr>
        <p:txBody>
          <a:bodyPr/>
          <a:lstStyle/>
          <a:p>
            <a:r>
              <a:rPr lang="en-US" b="1" i="1" dirty="0"/>
              <a:t>The Solution</a:t>
            </a:r>
            <a:endParaRPr lang="el-GR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C730B-8195-3C43-DE67-44BDAB637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066" y="1456158"/>
            <a:ext cx="3636888" cy="4591664"/>
          </a:xfrm>
        </p:spPr>
        <p:txBody>
          <a:bodyPr>
            <a:normAutofit lnSpcReduction="10000"/>
          </a:bodyPr>
          <a:lstStyle/>
          <a:p>
            <a:pPr marL="0" indent="0" algn="ctr">
              <a:buClr>
                <a:schemeClr val="tx1"/>
              </a:buClr>
              <a:buNone/>
            </a:pPr>
            <a:r>
              <a:rPr lang="en-GB" sz="2000" b="1"/>
              <a:t> </a:t>
            </a:r>
            <a:r>
              <a:rPr lang="el-GR" sz="2000"/>
              <a:t>⭐</a:t>
            </a:r>
            <a:r>
              <a:rPr lang="en-GB" sz="2000" b="1"/>
              <a:t>Unique Selling Propositions (USP):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600"/>
              <a:t>Specialized exclusively in </a:t>
            </a:r>
            <a:r>
              <a:rPr lang="en-GB" sz="1600" b="1"/>
              <a:t>submersible</a:t>
            </a:r>
            <a:r>
              <a:rPr lang="en-GB" sz="1600"/>
              <a:t> drones (no aerial, no manufacturing complexity) 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600"/>
              <a:t>Fast deployment for inspections and emergency missions 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600" b="1"/>
              <a:t>Affordable</a:t>
            </a:r>
            <a:r>
              <a:rPr lang="en-GB" sz="1600"/>
              <a:t> access to </a:t>
            </a:r>
            <a:r>
              <a:rPr lang="en-GB" sz="1600" b="1"/>
              <a:t>professional</a:t>
            </a:r>
            <a:r>
              <a:rPr lang="en-GB" sz="1600"/>
              <a:t> underwater robotics</a:t>
            </a:r>
            <a:endParaRPr lang="el-GR" sz="1600"/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600" b="1"/>
              <a:t>Custom</a:t>
            </a:r>
            <a:r>
              <a:rPr lang="en-GB" sz="1600"/>
              <a:t> mission configuration (sensors, cameras, payloads) 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600" b="1"/>
              <a:t>Certified</a:t>
            </a:r>
            <a:r>
              <a:rPr lang="en-GB" sz="1600"/>
              <a:t> operators and </a:t>
            </a:r>
            <a:r>
              <a:rPr lang="en-GB" sz="1600" b="1"/>
              <a:t>standardized</a:t>
            </a:r>
            <a:r>
              <a:rPr lang="en-GB" sz="1600"/>
              <a:t> reporting 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600"/>
              <a:t>Scalable through partnerships and fleet expansion</a:t>
            </a:r>
          </a:p>
          <a:p>
            <a:pPr marL="0" indent="0">
              <a:buNone/>
            </a:pPr>
            <a:endParaRPr lang="en-GB" sz="1400" b="1"/>
          </a:p>
        </p:txBody>
      </p:sp>
      <p:pic>
        <p:nvPicPr>
          <p:cNvPr id="4" name="Picture 3" descr="A blue logo with text&#10;&#10;AI-generated content may be incorrect.">
            <a:extLst>
              <a:ext uri="{FF2B5EF4-FFF2-40B4-BE49-F238E27FC236}">
                <a16:creationId xmlns:a16="http://schemas.microsoft.com/office/drawing/2014/main" id="{6298180F-0A9D-6ED7-7E34-864C44E8C4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49" y="118904"/>
            <a:ext cx="987469" cy="6583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A178BD-3139-4E52-BBCE-429B06432B16}"/>
              </a:ext>
            </a:extLst>
          </p:cNvPr>
          <p:cNvSpPr txBox="1"/>
          <p:nvPr/>
        </p:nvSpPr>
        <p:spPr>
          <a:xfrm>
            <a:off x="5182648" y="1474839"/>
            <a:ext cx="3985409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>
                <a:prstClr val="black"/>
              </a:buClr>
              <a:defRPr/>
            </a:pPr>
            <a:r>
              <a:rPr lang="el-GR" sz="2000"/>
              <a:t>⚙️ </a:t>
            </a: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How We Solve the Problem:</a:t>
            </a:r>
          </a:p>
          <a:p>
            <a:pPr>
              <a:lnSpc>
                <a:spcPct val="90000"/>
              </a:lnSpc>
              <a:spcBef>
                <a:spcPts val="480"/>
              </a:spcBef>
              <a:spcAft>
                <a:spcPts val="600"/>
              </a:spcAft>
              <a:buClr>
                <a:schemeClr val="tx1"/>
              </a:buClr>
              <a:buSzPct val="145000"/>
            </a:pPr>
            <a:endParaRPr lang="el-GR" sz="1600"/>
          </a:p>
          <a:p>
            <a:pPr marL="285750" indent="-285750">
              <a:lnSpc>
                <a:spcPct val="90000"/>
              </a:lnSpc>
              <a:spcBef>
                <a:spcPts val="480"/>
              </a:spcBef>
              <a:spcAft>
                <a:spcPts val="600"/>
              </a:spcAft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600" b="1"/>
              <a:t>Replace risky diver inspections </a:t>
            </a:r>
            <a:r>
              <a:rPr lang="en-GB" sz="1600"/>
              <a:t>with robotic missions </a:t>
            </a:r>
          </a:p>
          <a:p>
            <a:pPr marL="285750" indent="-285750">
              <a:lnSpc>
                <a:spcPct val="90000"/>
              </a:lnSpc>
              <a:spcBef>
                <a:spcPts val="480"/>
              </a:spcBef>
              <a:spcAft>
                <a:spcPts val="600"/>
              </a:spcAft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600" b="1"/>
              <a:t>Reduce</a:t>
            </a:r>
            <a:r>
              <a:rPr lang="en-GB" sz="1600"/>
              <a:t> operational cost and downtime </a:t>
            </a:r>
          </a:p>
          <a:p>
            <a:pPr marL="285750" indent="-285750">
              <a:lnSpc>
                <a:spcPct val="90000"/>
              </a:lnSpc>
              <a:spcBef>
                <a:spcPts val="480"/>
              </a:spcBef>
              <a:spcAft>
                <a:spcPts val="600"/>
              </a:spcAft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600"/>
              <a:t>Enable </a:t>
            </a:r>
            <a:r>
              <a:rPr lang="en-GB" sz="1600" b="1"/>
              <a:t>frequent</a:t>
            </a:r>
            <a:r>
              <a:rPr lang="en-GB" sz="1600"/>
              <a:t> monitoring instead of occasional inspections </a:t>
            </a:r>
          </a:p>
          <a:p>
            <a:pPr marL="285750" indent="-285750">
              <a:lnSpc>
                <a:spcPct val="90000"/>
              </a:lnSpc>
              <a:spcBef>
                <a:spcPts val="480"/>
              </a:spcBef>
              <a:spcAft>
                <a:spcPts val="600"/>
              </a:spcAft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600"/>
              <a:t>Deliver </a:t>
            </a:r>
            <a:r>
              <a:rPr lang="en-GB" sz="1600" b="1"/>
              <a:t>actionable</a:t>
            </a:r>
            <a:r>
              <a:rPr lang="en-GB" sz="1600"/>
              <a:t> underwater data and reports </a:t>
            </a:r>
          </a:p>
          <a:p>
            <a:pPr marL="285750" indent="-285750">
              <a:lnSpc>
                <a:spcPct val="90000"/>
              </a:lnSpc>
              <a:spcBef>
                <a:spcPts val="480"/>
              </a:spcBef>
              <a:spcAft>
                <a:spcPts val="600"/>
              </a:spcAft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600"/>
              <a:t>Provide access to underwater technology </a:t>
            </a:r>
            <a:r>
              <a:rPr lang="en-GB" sz="1600" b="1"/>
              <a:t>without capital investment</a:t>
            </a:r>
            <a:endParaRPr lang="el-GR" sz="1600" b="1"/>
          </a:p>
        </p:txBody>
      </p: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3024B0CB-5788-FB1C-6641-AFC3C57EBE9E}"/>
              </a:ext>
            </a:extLst>
          </p:cNvPr>
          <p:cNvCxnSpPr/>
          <p:nvPr/>
        </p:nvCxnSpPr>
        <p:spPr>
          <a:xfrm>
            <a:off x="4983480" y="1474839"/>
            <a:ext cx="0" cy="43468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59103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C742F-C5E3-D6F0-EF80-287B47B14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D0560-C1FA-F49B-6D92-73CD58A46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0809" y="777217"/>
            <a:ext cx="3678285" cy="2651761"/>
          </a:xfrm>
        </p:spPr>
        <p:txBody>
          <a:bodyPr>
            <a:normAutofit/>
          </a:bodyPr>
          <a:lstStyle/>
          <a:p>
            <a:pPr marL="0" indent="0" algn="ctr">
              <a:buClr>
                <a:schemeClr val="tx1"/>
              </a:buClr>
              <a:buNone/>
            </a:pPr>
            <a:r>
              <a:rPr lang="el-GR" sz="2000"/>
              <a:t>🚀</a:t>
            </a:r>
            <a:r>
              <a:rPr lang="en-GB" sz="2000" b="1"/>
              <a:t>Minimum Viable Product (MVP):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/>
              <a:t>1–2 professional submersible drones (ROV)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/>
              <a:t>Trained operator team </a:t>
            </a:r>
            <a:endParaRPr lang="el-GR" sz="140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/>
              <a:t>Portable mission kit</a:t>
            </a:r>
            <a:r>
              <a:rPr lang="el-GR" sz="1400"/>
              <a:t> </a:t>
            </a:r>
            <a:r>
              <a:rPr lang="en-GB" sz="1400"/>
              <a:t>(control station, power, transport)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/>
              <a:t>Basic data capture &amp; reporting workflow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/>
              <a:t>Safety and operational procedures.</a:t>
            </a:r>
            <a:endParaRPr lang="el-GR" sz="1400"/>
          </a:p>
        </p:txBody>
      </p:sp>
      <p:pic>
        <p:nvPicPr>
          <p:cNvPr id="4" name="Picture 3" descr="A blue logo with text&#10;&#10;AI-generated content may be incorrect.">
            <a:extLst>
              <a:ext uri="{FF2B5EF4-FFF2-40B4-BE49-F238E27FC236}">
                <a16:creationId xmlns:a16="http://schemas.microsoft.com/office/drawing/2014/main" id="{142E3C16-7650-BEB5-9D7A-C32E8EBC2C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49" y="118904"/>
            <a:ext cx="987469" cy="6583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ADBEEF-6064-D47D-788F-CEE534BF2013}"/>
              </a:ext>
            </a:extLst>
          </p:cNvPr>
          <p:cNvSpPr txBox="1"/>
          <p:nvPr/>
        </p:nvSpPr>
        <p:spPr>
          <a:xfrm>
            <a:off x="5729064" y="871990"/>
            <a:ext cx="3673919" cy="24622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l-GR" sz="2000"/>
              <a:t>✅</a:t>
            </a:r>
            <a:r>
              <a:rPr lang="en-GB" sz="2000" b="1"/>
              <a:t>Why This MVP Works:</a:t>
            </a:r>
            <a:endParaRPr lang="en-GB" sz="2000"/>
          </a:p>
          <a:p>
            <a:pPr>
              <a:buClr>
                <a:schemeClr val="tx1"/>
              </a:buClr>
            </a:pPr>
            <a:endParaRPr lang="en-GB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/>
              <a:t> Demonstrates full operational capability</a:t>
            </a:r>
            <a:endParaRPr lang="el-GR" sz="140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40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/>
              <a:t> Low initial investment </a:t>
            </a:r>
            <a:endParaRPr lang="el-GR" sz="140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40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/>
              <a:t> Immediate real-world usability </a:t>
            </a:r>
            <a:endParaRPr lang="el-GR" sz="140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40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/>
              <a:t> Easy scalability</a:t>
            </a:r>
          </a:p>
          <a:p>
            <a:endParaRPr lang="en-GB"/>
          </a:p>
        </p:txBody>
      </p: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88406BDE-36CB-B920-BD51-908B68E22AFE}"/>
              </a:ext>
            </a:extLst>
          </p:cNvPr>
          <p:cNvCxnSpPr>
            <a:cxnSpLocks/>
          </p:cNvCxnSpPr>
          <p:nvPr/>
        </p:nvCxnSpPr>
        <p:spPr>
          <a:xfrm>
            <a:off x="5376770" y="777217"/>
            <a:ext cx="0" cy="273289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Εικόνα 12" descr="Εικόνα που περιέχει κείμενο, στιγμιότυπο οθόνη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680EC788-58E0-A20D-EC6C-9997AAE3C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809" y="3789116"/>
            <a:ext cx="7693990" cy="2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5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04D5-1303-1C90-B2B9-1CA36C77D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5490" y="-102969"/>
            <a:ext cx="2835020" cy="880186"/>
          </a:xfrm>
        </p:spPr>
        <p:txBody>
          <a:bodyPr/>
          <a:lstStyle/>
          <a:p>
            <a:r>
              <a:rPr lang="en-US" b="1" i="1" dirty="0"/>
              <a:t>The Market</a:t>
            </a:r>
            <a:endParaRPr lang="el-GR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9BE21-4FF9-9885-FF52-42A119FF6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435" y="747169"/>
            <a:ext cx="8470548" cy="3849542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🌍</a:t>
            </a:r>
            <a:r>
              <a:rPr lang="en-GB" sz="2000" b="1" dirty="0"/>
              <a:t>TAM – Total Available Market (Global):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Global underwater robotics &amp; subsea inspection services market: ~$9–15B annually, driven by offshore energy, infrastructure inspection, and environmental monitoring.</a:t>
            </a:r>
            <a:endParaRPr lang="en-US" sz="1400" i="1" dirty="0"/>
          </a:p>
          <a:p>
            <a:pPr marL="0" indent="0">
              <a:buClr>
                <a:schemeClr val="tx1"/>
              </a:buClr>
              <a:buNone/>
            </a:pPr>
            <a:r>
              <a:rPr lang="en-US" sz="1100" i="1" dirty="0"/>
              <a:t>          Source: Mordor Intelligence, Global Market Insights, </a:t>
            </a:r>
            <a:r>
              <a:rPr lang="en-US" sz="1100" i="1" dirty="0" err="1"/>
              <a:t>MarketsandMarkets</a:t>
            </a:r>
            <a:endParaRPr lang="en-GB" sz="1100" dirty="0"/>
          </a:p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🇬🇷</a:t>
            </a:r>
            <a:r>
              <a:rPr lang="en-US" sz="2000" dirty="0"/>
              <a:t> </a:t>
            </a:r>
            <a:r>
              <a:rPr lang="en-GB" sz="2000" b="1" dirty="0"/>
              <a:t>SAM – Greek Market (Greece):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Addressable Greek market for professional underwater inspection and monitoring services.</a:t>
            </a:r>
            <a:endParaRPr lang="el-GR" sz="14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Estimated annual market size: €15M–€40M (conservative estimate).</a:t>
            </a:r>
            <a:endParaRPr lang="el-GR" sz="1400" dirty="0"/>
          </a:p>
          <a:p>
            <a:pPr marL="0" indent="0">
              <a:buClr>
                <a:schemeClr val="tx1"/>
              </a:buClr>
              <a:buNone/>
            </a:pPr>
            <a:r>
              <a:rPr lang="el-GR" sz="1100" i="1" dirty="0"/>
              <a:t>          </a:t>
            </a:r>
            <a:r>
              <a:rPr lang="en-GB" sz="1100" i="1" dirty="0"/>
              <a:t>Includes ports, offshore infrastructure, public safety, research and environmental monitoring.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🎯</a:t>
            </a:r>
            <a:r>
              <a:rPr lang="en-GB" sz="2000" b="1" dirty="0"/>
              <a:t>SOM – Share of Market (</a:t>
            </a:r>
            <a:r>
              <a:rPr lang="en-US" sz="2000" b="1" dirty="0"/>
              <a:t>First</a:t>
            </a:r>
            <a:r>
              <a:rPr lang="en-GB" sz="2000" b="1" dirty="0"/>
              <a:t> 3–5 years):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Target penetration: 5–8% of Greek SAM</a:t>
            </a:r>
            <a:endParaRPr lang="el-GR" sz="14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Estimated annual revenue potential: €0.8M–€3M</a:t>
            </a:r>
            <a:endParaRPr lang="en-GB" sz="1400" dirty="0"/>
          </a:p>
        </p:txBody>
      </p:sp>
      <p:pic>
        <p:nvPicPr>
          <p:cNvPr id="4" name="Picture 3" descr="A blue logo with text&#10;&#10;AI-generated content may be incorrect.">
            <a:extLst>
              <a:ext uri="{FF2B5EF4-FFF2-40B4-BE49-F238E27FC236}">
                <a16:creationId xmlns:a16="http://schemas.microsoft.com/office/drawing/2014/main" id="{DBB9C3FB-68D7-A081-60C6-25F1C8F8D1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49" y="118904"/>
            <a:ext cx="987469" cy="65831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C9C4785-9DBC-4CB7-13CD-9748C5D521A8}"/>
              </a:ext>
            </a:extLst>
          </p:cNvPr>
          <p:cNvCxnSpPr>
            <a:cxnSpLocks/>
          </p:cNvCxnSpPr>
          <p:nvPr/>
        </p:nvCxnSpPr>
        <p:spPr>
          <a:xfrm>
            <a:off x="932435" y="4664097"/>
            <a:ext cx="871741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6375358-9DAB-B6FE-402D-C39A621A058D}"/>
              </a:ext>
            </a:extLst>
          </p:cNvPr>
          <p:cNvSpPr txBox="1"/>
          <p:nvPr/>
        </p:nvSpPr>
        <p:spPr>
          <a:xfrm>
            <a:off x="932435" y="5175700"/>
            <a:ext cx="7679889" cy="954107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Ports, marinas &amp; underwater infrastructure</a:t>
            </a:r>
            <a:endParaRPr lang="el-GR" sz="14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Offshore energy, cables &amp; subsea assets </a:t>
            </a:r>
            <a:endParaRPr lang="el-GR" sz="1400" dirty="0"/>
          </a:p>
          <a:p>
            <a:pPr>
              <a:buClr>
                <a:schemeClr val="tx1"/>
              </a:buClr>
            </a:pPr>
            <a:endParaRPr lang="el-GR" sz="14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l-GR" sz="14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Environmental monitoring &amp; marine research</a:t>
            </a:r>
            <a:endParaRPr lang="el-GR" sz="14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Coast Guard, public safety &amp; rescue operations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8DD6AA-E6BB-F546-C09B-20CE0B722ADD}"/>
              </a:ext>
            </a:extLst>
          </p:cNvPr>
          <p:cNvSpPr txBox="1"/>
          <p:nvPr/>
        </p:nvSpPr>
        <p:spPr>
          <a:xfrm>
            <a:off x="932435" y="4775590"/>
            <a:ext cx="4953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el-GR" sz="2000" dirty="0"/>
              <a:t>🎯</a:t>
            </a:r>
            <a:r>
              <a:rPr lang="en-GB" sz="2000" b="1" dirty="0"/>
              <a:t>Key Market Segments:</a:t>
            </a:r>
          </a:p>
        </p:txBody>
      </p:sp>
    </p:spTree>
    <p:extLst>
      <p:ext uri="{BB962C8B-B14F-4D97-AF65-F5344CB8AC3E}">
        <p14:creationId xmlns:p14="http://schemas.microsoft.com/office/powerpoint/2010/main" val="312878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245F4-D1C8-9462-8905-2AC7C2FD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260" y="-621198"/>
            <a:ext cx="8346723" cy="1981200"/>
          </a:xfrm>
        </p:spPr>
        <p:txBody>
          <a:bodyPr/>
          <a:lstStyle/>
          <a:p>
            <a:r>
              <a:rPr lang="en-US" b="1" i="1" dirty="0"/>
              <a:t>Competition</a:t>
            </a:r>
            <a:r>
              <a:rPr lang="en-US" b="1" dirty="0"/>
              <a:t> and Differentiation </a:t>
            </a:r>
            <a:endParaRPr lang="el-G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D0796-2AF4-5DA0-6FC8-98BE94A6E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4529" y="777218"/>
            <a:ext cx="2551472" cy="5224534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GB" sz="1800"/>
              <a:t>Main competitors include offshore inspection companies, local diving services, and university ROV labs. </a:t>
            </a:r>
          </a:p>
          <a:p>
            <a:pPr>
              <a:buClr>
                <a:schemeClr val="tx1"/>
              </a:buClr>
            </a:pPr>
            <a:r>
              <a:rPr lang="en-GB" sz="1800"/>
              <a:t>Ocean Drones differentiates by offering fast deployment, affordable pricing, specialized submersible operations, certified reporting, and flexible mission customization.</a:t>
            </a:r>
            <a:endParaRPr lang="el-GR" sz="18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E67F0A-02FE-A334-180B-E1BC3E7B3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555305"/>
              </p:ext>
            </p:extLst>
          </p:nvPr>
        </p:nvGraphicFramePr>
        <p:xfrm>
          <a:off x="1056260" y="856249"/>
          <a:ext cx="6168563" cy="51455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3643">
                  <a:extLst>
                    <a:ext uri="{9D8B030D-6E8A-4147-A177-3AD203B41FA5}">
                      <a16:colId xmlns:a16="http://schemas.microsoft.com/office/drawing/2014/main" val="1000783662"/>
                    </a:ext>
                  </a:extLst>
                </a:gridCol>
                <a:gridCol w="1213784">
                  <a:extLst>
                    <a:ext uri="{9D8B030D-6E8A-4147-A177-3AD203B41FA5}">
                      <a16:colId xmlns:a16="http://schemas.microsoft.com/office/drawing/2014/main" val="3942382647"/>
                    </a:ext>
                  </a:extLst>
                </a:gridCol>
                <a:gridCol w="1233712">
                  <a:extLst>
                    <a:ext uri="{9D8B030D-6E8A-4147-A177-3AD203B41FA5}">
                      <a16:colId xmlns:a16="http://schemas.microsoft.com/office/drawing/2014/main" val="2399968751"/>
                    </a:ext>
                  </a:extLst>
                </a:gridCol>
                <a:gridCol w="1233712">
                  <a:extLst>
                    <a:ext uri="{9D8B030D-6E8A-4147-A177-3AD203B41FA5}">
                      <a16:colId xmlns:a16="http://schemas.microsoft.com/office/drawing/2014/main" val="960095541"/>
                    </a:ext>
                  </a:extLst>
                </a:gridCol>
                <a:gridCol w="1233712">
                  <a:extLst>
                    <a:ext uri="{9D8B030D-6E8A-4147-A177-3AD203B41FA5}">
                      <a16:colId xmlns:a16="http://schemas.microsoft.com/office/drawing/2014/main" val="2513161107"/>
                    </a:ext>
                  </a:extLst>
                </a:gridCol>
              </a:tblGrid>
              <a:tr h="69039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Feature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Offshore Companies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Diving Companies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University Labs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Ocean </a:t>
                      </a:r>
                    </a:p>
                    <a:p>
                      <a:pPr algn="ctr"/>
                      <a:r>
                        <a:rPr lang="en-US" sz="1400"/>
                        <a:t>Drones</a:t>
                      </a:r>
                      <a:endParaRPr lang="el-GR" sz="140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539766"/>
                  </a:ext>
                </a:extLst>
              </a:tr>
              <a:tr h="690393">
                <a:tc>
                  <a:txBody>
                    <a:bodyPr/>
                    <a:lstStyle/>
                    <a:p>
                      <a:r>
                        <a:rPr lang="en-US" sz="1400" dirty="0"/>
                        <a:t>Fast Deployment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Partially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Partially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No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Fully</a:t>
                      </a:r>
                      <a:endParaRPr lang="el-GR" sz="140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476811"/>
                  </a:ext>
                </a:extLst>
              </a:tr>
              <a:tr h="4890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Affordable Pricing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Partially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Partially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Partially</a:t>
                      </a:r>
                      <a:endParaRPr lang="el-GR" sz="14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69475"/>
                  </a:ext>
                </a:extLst>
              </a:tr>
              <a:tr h="891758">
                <a:tc>
                  <a:txBody>
                    <a:bodyPr/>
                    <a:lstStyle/>
                    <a:p>
                      <a:r>
                        <a:rPr lang="en-US" sz="1400" dirty="0"/>
                        <a:t>Submersible Specialization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Fully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No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Partially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Fully</a:t>
                      </a:r>
                      <a:endParaRPr lang="el-GR" sz="140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797397"/>
                  </a:ext>
                </a:extLst>
              </a:tr>
              <a:tr h="6903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Certified Operators &amp; Reports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Fully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No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Partially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Fully</a:t>
                      </a:r>
                      <a:endParaRPr lang="el-GR" sz="140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039508"/>
                  </a:ext>
                </a:extLst>
              </a:tr>
              <a:tr h="891758">
                <a:tc>
                  <a:txBody>
                    <a:bodyPr/>
                    <a:lstStyle/>
                    <a:p>
                      <a:r>
                        <a:rPr lang="en-US" sz="1400" dirty="0"/>
                        <a:t>Custom Mission Configuration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Partially</a:t>
                      </a:r>
                      <a:endParaRPr lang="el-GR" sz="1400"/>
                    </a:p>
                    <a:p>
                      <a:pPr algn="ctr"/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No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Partially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Fully</a:t>
                      </a:r>
                      <a:endParaRPr lang="el-GR" sz="140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72922"/>
                  </a:ext>
                </a:extLst>
              </a:tr>
              <a:tr h="6903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Research &amp; Training Services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No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No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Partially</a:t>
                      </a:r>
                      <a:endParaRPr lang="el-G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Partially</a:t>
                      </a:r>
                      <a:endParaRPr lang="el-GR" sz="14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236911"/>
                  </a:ext>
                </a:extLst>
              </a:tr>
            </a:tbl>
          </a:graphicData>
        </a:graphic>
      </p:graphicFrame>
      <p:pic>
        <p:nvPicPr>
          <p:cNvPr id="5" name="Picture 3" descr="A blue logo with text&#10;&#10;AI-generated content may be incorrect.">
            <a:extLst>
              <a:ext uri="{FF2B5EF4-FFF2-40B4-BE49-F238E27FC236}">
                <a16:creationId xmlns:a16="http://schemas.microsoft.com/office/drawing/2014/main" id="{4D7DD5D4-27EC-BC9C-9F6F-A356DFFFAE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49" y="118904"/>
            <a:ext cx="987469" cy="65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03985"/>
      </p:ext>
    </p:extLst>
  </p:cSld>
  <p:clrMapOvr>
    <a:masterClrMapping/>
  </p:clrMapOvr>
  <p:transition spd="slow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Διάγραμμα ροής: Διεργασία 16">
            <a:extLst>
              <a:ext uri="{FF2B5EF4-FFF2-40B4-BE49-F238E27FC236}">
                <a16:creationId xmlns:a16="http://schemas.microsoft.com/office/drawing/2014/main" id="{42F40495-BBC9-429E-AFAC-642C64F17615}"/>
              </a:ext>
            </a:extLst>
          </p:cNvPr>
          <p:cNvSpPr/>
          <p:nvPr/>
        </p:nvSpPr>
        <p:spPr>
          <a:xfrm>
            <a:off x="5039361" y="1221965"/>
            <a:ext cx="3305265" cy="3421155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1" name="Διάγραμμα ροής: Διεργασία 10">
            <a:extLst>
              <a:ext uri="{FF2B5EF4-FFF2-40B4-BE49-F238E27FC236}">
                <a16:creationId xmlns:a16="http://schemas.microsoft.com/office/drawing/2014/main" id="{58C11B4A-AF57-384C-8094-8C0C88B9E09C}"/>
              </a:ext>
            </a:extLst>
          </p:cNvPr>
          <p:cNvSpPr/>
          <p:nvPr/>
        </p:nvSpPr>
        <p:spPr>
          <a:xfrm>
            <a:off x="1388643" y="1221966"/>
            <a:ext cx="3305265" cy="4691153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54694-EAFB-052A-3F96-CFA26233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978" y="0"/>
            <a:ext cx="8203847" cy="777217"/>
          </a:xfrm>
        </p:spPr>
        <p:txBody>
          <a:bodyPr/>
          <a:lstStyle/>
          <a:p>
            <a:r>
              <a:rPr lang="tr-TR" b="1" i="1" dirty="0"/>
              <a:t>Go-to-Market</a:t>
            </a:r>
            <a:r>
              <a:rPr lang="tr-TR" dirty="0"/>
              <a:t> </a:t>
            </a:r>
            <a:r>
              <a:rPr lang="tr-TR" b="1" i="1" dirty="0"/>
              <a:t>Strategy</a:t>
            </a:r>
            <a:endParaRPr lang="el-GR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89F80-E46B-199F-FF24-631DD1A41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643" y="1270004"/>
            <a:ext cx="3234154" cy="4439914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GB" sz="2000" b="1" dirty="0"/>
              <a:t>Customer Acquisition: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🎯 Direct B2B outreach to ports, municipalities, research institutions &amp; offshore companies</a:t>
            </a:r>
            <a:endParaRPr lang="el-GR" sz="16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🚀 Pilot projects &amp; demo missions (proof of value)</a:t>
            </a:r>
            <a:endParaRPr lang="el-GR" sz="16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🤝 Strategic partnerships with universities &amp; public agencies</a:t>
            </a:r>
            <a:endParaRPr lang="el-GR" sz="16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🌍 Presence at maritime &amp; technology events</a:t>
            </a:r>
            <a:endParaRPr lang="el-GR" sz="16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📄 Public tenders &amp; institutional procurement (long-term contracts)</a:t>
            </a:r>
          </a:p>
        </p:txBody>
      </p:sp>
      <p:pic>
        <p:nvPicPr>
          <p:cNvPr id="4" name="Picture 3" descr="A blue logo with text&#10;&#10;AI-generated content may be incorrect.">
            <a:extLst>
              <a:ext uri="{FF2B5EF4-FFF2-40B4-BE49-F238E27FC236}">
                <a16:creationId xmlns:a16="http://schemas.microsoft.com/office/drawing/2014/main" id="{BEE72E71-2A5F-6E15-F72D-2FFB58D754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49" y="118904"/>
            <a:ext cx="987469" cy="65831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AF4A78-C4AA-5313-E810-48910C19A4B8}"/>
              </a:ext>
            </a:extLst>
          </p:cNvPr>
          <p:cNvCxnSpPr>
            <a:cxnSpLocks/>
          </p:cNvCxnSpPr>
          <p:nvPr/>
        </p:nvCxnSpPr>
        <p:spPr>
          <a:xfrm>
            <a:off x="4866640" y="1173480"/>
            <a:ext cx="0" cy="491744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79509E5-BC38-2028-5AE3-98DDB05A943B}"/>
              </a:ext>
            </a:extLst>
          </p:cNvPr>
          <p:cNvSpPr txBox="1">
            <a:spLocks/>
          </p:cNvSpPr>
          <p:nvPr/>
        </p:nvSpPr>
        <p:spPr>
          <a:xfrm>
            <a:off x="5039361" y="1422399"/>
            <a:ext cx="3234154" cy="3037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Font typeface="Arial"/>
              <a:buNone/>
            </a:pPr>
            <a:r>
              <a:rPr lang="en-US" sz="2200" b="1" dirty="0"/>
              <a:t>Marketing Channels</a:t>
            </a:r>
            <a:r>
              <a:rPr lang="en-GB" sz="2200" b="1" dirty="0"/>
              <a:t>:</a:t>
            </a:r>
          </a:p>
          <a:p>
            <a:pPr marL="0" indent="0">
              <a:buClr>
                <a:schemeClr val="tx1"/>
              </a:buClr>
              <a:buFont typeface="Arial"/>
              <a:buNone/>
            </a:pPr>
            <a:endParaRPr lang="en-GB" sz="2000" b="1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l-GR" sz="1700" dirty="0"/>
              <a:t>🌐 </a:t>
            </a:r>
            <a:r>
              <a:rPr lang="en-US" sz="1700" dirty="0"/>
              <a:t>Website &amp; SEO (long-term inbound leads)</a:t>
            </a:r>
            <a:endParaRPr lang="el-GR" sz="17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l-GR" sz="1700" dirty="0"/>
              <a:t>💼 </a:t>
            </a:r>
            <a:r>
              <a:rPr lang="en-US" sz="1700" dirty="0"/>
              <a:t>LinkedIn B2B outreach (decision makers)</a:t>
            </a:r>
            <a:endParaRPr lang="el-GR" sz="17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l-GR" sz="1700" dirty="0"/>
              <a:t>📧 </a:t>
            </a:r>
            <a:r>
              <a:rPr lang="en-US" sz="1700" dirty="0"/>
              <a:t>Direct email &amp; cold outreach</a:t>
            </a:r>
            <a:endParaRPr lang="el-GR" sz="17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l-GR" sz="1700" dirty="0"/>
              <a:t>🧭 </a:t>
            </a:r>
            <a:r>
              <a:rPr lang="en-US" sz="1700" dirty="0"/>
              <a:t>Industry conferences &amp; exhibitions</a:t>
            </a:r>
            <a:endParaRPr lang="el-GR" sz="17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l-GR" sz="1700" dirty="0"/>
              <a:t>🤝 </a:t>
            </a:r>
            <a:r>
              <a:rPr lang="en-US" sz="1700" dirty="0"/>
              <a:t>Partnerships &amp; referrals</a:t>
            </a:r>
            <a:endParaRPr lang="el-GR" sz="1700" dirty="0"/>
          </a:p>
        </p:txBody>
      </p:sp>
    </p:spTree>
    <p:extLst>
      <p:ext uri="{BB962C8B-B14F-4D97-AF65-F5344CB8AC3E}">
        <p14:creationId xmlns:p14="http://schemas.microsoft.com/office/powerpoint/2010/main" val="186513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Διάγραμμα ροής: Διεργασία 24">
            <a:extLst>
              <a:ext uri="{FF2B5EF4-FFF2-40B4-BE49-F238E27FC236}">
                <a16:creationId xmlns:a16="http://schemas.microsoft.com/office/drawing/2014/main" id="{DFD84810-F90D-BEF5-7D5D-5F5FDB502A17}"/>
              </a:ext>
            </a:extLst>
          </p:cNvPr>
          <p:cNvSpPr/>
          <p:nvPr/>
        </p:nvSpPr>
        <p:spPr>
          <a:xfrm>
            <a:off x="5252548" y="3612371"/>
            <a:ext cx="3848826" cy="2351547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4" name="Διάγραμμα ροής: Διεργασία 23">
            <a:extLst>
              <a:ext uri="{FF2B5EF4-FFF2-40B4-BE49-F238E27FC236}">
                <a16:creationId xmlns:a16="http://schemas.microsoft.com/office/drawing/2014/main" id="{3408D168-C5D8-F3BC-4605-76F86A56B9AC}"/>
              </a:ext>
            </a:extLst>
          </p:cNvPr>
          <p:cNvSpPr/>
          <p:nvPr/>
        </p:nvSpPr>
        <p:spPr>
          <a:xfrm>
            <a:off x="1104174" y="3633205"/>
            <a:ext cx="3848826" cy="2330713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Διάγραμμα ροής: Διεργασία 8">
            <a:extLst>
              <a:ext uri="{FF2B5EF4-FFF2-40B4-BE49-F238E27FC236}">
                <a16:creationId xmlns:a16="http://schemas.microsoft.com/office/drawing/2014/main" id="{58F96394-EC19-6E38-F2CF-EE5C24405C7F}"/>
              </a:ext>
            </a:extLst>
          </p:cNvPr>
          <p:cNvSpPr/>
          <p:nvPr/>
        </p:nvSpPr>
        <p:spPr>
          <a:xfrm>
            <a:off x="5286807" y="447039"/>
            <a:ext cx="3848826" cy="3031755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4" name="Διάγραμμα ροής: Διεργασία 3">
            <a:extLst>
              <a:ext uri="{FF2B5EF4-FFF2-40B4-BE49-F238E27FC236}">
                <a16:creationId xmlns:a16="http://schemas.microsoft.com/office/drawing/2014/main" id="{FA280A2E-09C3-65B9-D37F-756F409666CD}"/>
              </a:ext>
            </a:extLst>
          </p:cNvPr>
          <p:cNvSpPr/>
          <p:nvPr/>
        </p:nvSpPr>
        <p:spPr>
          <a:xfrm>
            <a:off x="1104174" y="447040"/>
            <a:ext cx="3848826" cy="3031755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A1F9F-4665-C5BC-893E-B292CF9F7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637" y="447040"/>
            <a:ext cx="3777374" cy="3022577"/>
          </a:xfrm>
        </p:spPr>
        <p:txBody>
          <a:bodyPr>
            <a:normAutofit fontScale="92500" lnSpcReduction="20000"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💰</a:t>
            </a:r>
            <a:r>
              <a:rPr lang="en-GB" sz="2000" b="1" dirty="0"/>
              <a:t>Annual Marketing Budget (Est.):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 Website &amp; branding: €2,000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LinkedIn ads &amp; outreach tools: €1,500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Conferences &amp; travel: €3,000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Marketing materials &amp; demos: €1,500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endParaRPr lang="en-GB" sz="1400" dirty="0"/>
          </a:p>
          <a:p>
            <a:pPr marL="0" indent="0">
              <a:buClr>
                <a:schemeClr val="tx1"/>
              </a:buClr>
              <a:buNone/>
            </a:pPr>
            <a:r>
              <a:rPr lang="en-US" sz="1900" b="1" dirty="0"/>
              <a:t>Estimated </a:t>
            </a:r>
            <a:r>
              <a:rPr lang="en-GB" sz="1900" b="1" dirty="0"/>
              <a:t>Total: </a:t>
            </a:r>
            <a:r>
              <a:rPr lang="en-GB" sz="1900" dirty="0"/>
              <a:t> = ~€8,000 / year</a:t>
            </a:r>
            <a:endParaRPr lang="el-GR" sz="1900" dirty="0"/>
          </a:p>
          <a:p>
            <a:pPr marL="0" indent="0">
              <a:buClr>
                <a:schemeClr val="tx1"/>
              </a:buClr>
              <a:buNone/>
            </a:pPr>
            <a:r>
              <a:rPr lang="en-US" sz="1400" i="1" dirty="0"/>
              <a:t>Additional branding, website infrastructure and sales tools are included in operational expenses.</a:t>
            </a:r>
            <a:endParaRPr lang="en-GB" sz="1400" i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883AB59-A4BF-6228-2E13-5D646296743A}"/>
              </a:ext>
            </a:extLst>
          </p:cNvPr>
          <p:cNvCxnSpPr>
            <a:cxnSpLocks/>
          </p:cNvCxnSpPr>
          <p:nvPr/>
        </p:nvCxnSpPr>
        <p:spPr>
          <a:xfrm>
            <a:off x="5096398" y="345440"/>
            <a:ext cx="0" cy="575056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1830E5B-C7F8-07C8-A8B7-99A3055C3CA9}"/>
              </a:ext>
            </a:extLst>
          </p:cNvPr>
          <p:cNvSpPr txBox="1"/>
          <p:nvPr/>
        </p:nvSpPr>
        <p:spPr>
          <a:xfrm>
            <a:off x="5321066" y="559783"/>
            <a:ext cx="37803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45000"/>
            </a:pPr>
            <a:r>
              <a:rPr lang="el-GR" sz="2000" dirty="0"/>
              <a:t>⚖️</a:t>
            </a:r>
            <a:r>
              <a:rPr lang="en-GB" sz="2000" b="1" dirty="0"/>
              <a:t>Legal &amp; Market Barriers:</a:t>
            </a:r>
            <a:endParaRPr lang="el-GR" sz="2000" b="1" dirty="0"/>
          </a:p>
          <a:p>
            <a:pPr>
              <a:buClr>
                <a:schemeClr val="tx1"/>
              </a:buClr>
            </a:pPr>
            <a:endParaRPr lang="en-GB" sz="2000" b="1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600" dirty="0"/>
              <a:t>Operational permits and maritime regulations </a:t>
            </a:r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600" dirty="0"/>
              <a:t>Insurance and safety compliance </a:t>
            </a:r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600"/>
              <a:t>Data </a:t>
            </a:r>
            <a:r>
              <a:rPr lang="en-GB" sz="1600" dirty="0"/>
              <a:t>protection &amp; environmental permits</a:t>
            </a:r>
            <a:endParaRPr lang="el-GR" sz="1600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1600" dirty="0"/>
              <a:t>Port authority approvals &amp; local coordination</a:t>
            </a:r>
            <a:endParaRPr lang="en-GB" sz="1600" b="1" u="sng" dirty="0"/>
          </a:p>
        </p:txBody>
      </p:sp>
      <p:pic>
        <p:nvPicPr>
          <p:cNvPr id="10" name="Picture 9" descr="A blue logo with text&#10;&#10;AI-generated content may be incorrect.">
            <a:extLst>
              <a:ext uri="{FF2B5EF4-FFF2-40B4-BE49-F238E27FC236}">
                <a16:creationId xmlns:a16="http://schemas.microsoft.com/office/drawing/2014/main" id="{29194A1B-E373-1F2A-EA70-5A8C7441EA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463" y="16283"/>
            <a:ext cx="987469" cy="65831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8B24958-2CDF-FBA4-5990-FBBD45DF2126}"/>
              </a:ext>
            </a:extLst>
          </p:cNvPr>
          <p:cNvSpPr txBox="1">
            <a:spLocks/>
          </p:cNvSpPr>
          <p:nvPr/>
        </p:nvSpPr>
        <p:spPr>
          <a:xfrm>
            <a:off x="1104163" y="3478795"/>
            <a:ext cx="3802677" cy="2775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🤝</a:t>
            </a:r>
            <a:r>
              <a:rPr lang="en-GB" sz="2000" b="1" dirty="0"/>
              <a:t>Key Partners: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 Drone manufacturers &amp; distributors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 Universities &amp; research institutes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 Port authorities &amp; municipalities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 Insurance &amp; certification providers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6D82E0C-BCE6-BC40-9C6F-D009D8E4C454}"/>
              </a:ext>
            </a:extLst>
          </p:cNvPr>
          <p:cNvSpPr txBox="1">
            <a:spLocks/>
          </p:cNvSpPr>
          <p:nvPr/>
        </p:nvSpPr>
        <p:spPr>
          <a:xfrm>
            <a:off x="5239786" y="3806929"/>
            <a:ext cx="3802677" cy="18095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🚀</a:t>
            </a:r>
            <a:r>
              <a:rPr lang="en-GB" sz="2200" b="1" dirty="0"/>
              <a:t>How We Acquire Partners:</a:t>
            </a:r>
            <a:endParaRPr lang="en-GB" sz="2800" b="1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Industry networking &amp; direct outreach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Pilot collaborations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Research programs &amp; public tenders</a:t>
            </a:r>
          </a:p>
        </p:txBody>
      </p:sp>
    </p:spTree>
    <p:extLst>
      <p:ext uri="{BB962C8B-B14F-4D97-AF65-F5344CB8AC3E}">
        <p14:creationId xmlns:p14="http://schemas.microsoft.com/office/powerpoint/2010/main" val="1672605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DBDD5-E2A9-72D2-6CD0-50DA71D53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445" y="21324"/>
            <a:ext cx="8346723" cy="794084"/>
          </a:xfrm>
        </p:spPr>
        <p:txBody>
          <a:bodyPr/>
          <a:lstStyle/>
          <a:p>
            <a:r>
              <a:rPr lang="en-US" b="1" i="1" dirty="0"/>
              <a:t>Technology</a:t>
            </a:r>
            <a:r>
              <a:rPr lang="en-US" dirty="0"/>
              <a:t> </a:t>
            </a:r>
            <a:r>
              <a:rPr lang="en-US" b="1" i="1" dirty="0"/>
              <a:t>/ Intellectual Property</a:t>
            </a:r>
            <a:endParaRPr lang="el-GR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AF7D-B94D-413C-5A60-219F38879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260" y="4098725"/>
            <a:ext cx="8346723" cy="2209796"/>
          </a:xfrm>
        </p:spPr>
        <p:txBody>
          <a:bodyPr/>
          <a:lstStyle/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🖥️</a:t>
            </a:r>
            <a:r>
              <a:rPr lang="en-GB" sz="2000" b="1" dirty="0"/>
              <a:t>Technology Stack / Architecture: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Mission control software (vendor platforms)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Data processing &amp; visualization tools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Cloud storage for mission data and reports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Internal dashboards for fleet, missions &amp; clients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Secure data sharing platform for clients</a:t>
            </a:r>
            <a:endParaRPr lang="el-GR" sz="1400" dirty="0"/>
          </a:p>
        </p:txBody>
      </p:sp>
      <p:pic>
        <p:nvPicPr>
          <p:cNvPr id="4" name="Picture 3" descr="A blue logo with text&#10;&#10;AI-generated content may be incorrect.">
            <a:extLst>
              <a:ext uri="{FF2B5EF4-FFF2-40B4-BE49-F238E27FC236}">
                <a16:creationId xmlns:a16="http://schemas.microsoft.com/office/drawing/2014/main" id="{0928DE26-7F0F-7C98-D7EF-5F3FAEDABB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49" y="118904"/>
            <a:ext cx="987469" cy="65831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7D1B7D-8A7C-AEDE-7411-EFAA0CBF483C}"/>
              </a:ext>
            </a:extLst>
          </p:cNvPr>
          <p:cNvCxnSpPr>
            <a:cxnSpLocks/>
          </p:cNvCxnSpPr>
          <p:nvPr/>
        </p:nvCxnSpPr>
        <p:spPr>
          <a:xfrm>
            <a:off x="1125066" y="3942348"/>
            <a:ext cx="834672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D923F9D-D7D4-623B-21A0-F9AC1D8CA1BA}"/>
              </a:ext>
            </a:extLst>
          </p:cNvPr>
          <p:cNvSpPr txBox="1"/>
          <p:nvPr/>
        </p:nvSpPr>
        <p:spPr>
          <a:xfrm>
            <a:off x="1073445" y="815408"/>
            <a:ext cx="824348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45000"/>
            </a:pPr>
            <a:r>
              <a:rPr lang="el-GR" sz="2000" dirty="0"/>
              <a:t>🧠</a:t>
            </a:r>
            <a:r>
              <a:rPr lang="en-GB" sz="2000" b="1" dirty="0"/>
              <a:t>Our Own Contribution:</a:t>
            </a:r>
            <a:endParaRPr lang="el-GR" sz="2000" b="1" dirty="0"/>
          </a:p>
          <a:p>
            <a:pPr>
              <a:buClr>
                <a:schemeClr val="tx1"/>
              </a:buClr>
              <a:buSzPct val="145000"/>
            </a:pPr>
            <a:endParaRPr lang="en-GB" sz="2000" b="1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 Mission planning workflows and operational procedures</a:t>
            </a:r>
            <a:endParaRPr lang="el-GR" sz="1400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 Data processing and reporting templates </a:t>
            </a:r>
            <a:endParaRPr lang="el-GR" sz="1400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l-GR" sz="1400" dirty="0"/>
              <a:t> </a:t>
            </a:r>
            <a:r>
              <a:rPr lang="en-GB" sz="1400" dirty="0"/>
              <a:t>Standardized safety and deployment protocols </a:t>
            </a:r>
            <a:endParaRPr lang="el-GR" sz="1400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l-GR" sz="1400" dirty="0"/>
              <a:t> </a:t>
            </a:r>
            <a:r>
              <a:rPr lang="en-GB" sz="1400" dirty="0"/>
              <a:t>Operator training methodology </a:t>
            </a:r>
            <a:endParaRPr lang="el-GR" sz="1400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l-GR" sz="1400" dirty="0"/>
              <a:t> </a:t>
            </a:r>
            <a:r>
              <a:rPr lang="en-GB" sz="1400" dirty="0"/>
              <a:t>Client delivery and documentation system</a:t>
            </a:r>
            <a:endParaRPr lang="el-GR" sz="1400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endParaRPr lang="el-GR" sz="1400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1400" dirty="0"/>
              <a:t>Mission datasets and operational performance benchmarks</a:t>
            </a:r>
            <a:endParaRPr lang="en-GB" sz="1400" dirty="0"/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707522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9797E-3080-93C5-CA31-1AF6D4855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8541" y="3565707"/>
            <a:ext cx="8346723" cy="2891675"/>
          </a:xfrm>
        </p:spPr>
        <p:txBody>
          <a:bodyPr/>
          <a:lstStyle/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🚧</a:t>
            </a:r>
            <a:r>
              <a:rPr lang="en-GB" sz="2000" b="1" dirty="0"/>
              <a:t>Barriers to Entry for Competitors: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High upfront investment in professional drones 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Operator training and certification requirements 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Operational experience and safety procedures 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Trust and relationships with authorities &amp; institutions 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Data accumulation and operational know-how 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Regulatory and insurance complexity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5346F3-946D-418C-4E61-A7C208861624}"/>
              </a:ext>
            </a:extLst>
          </p:cNvPr>
          <p:cNvCxnSpPr>
            <a:cxnSpLocks/>
          </p:cNvCxnSpPr>
          <p:nvPr/>
        </p:nvCxnSpPr>
        <p:spPr>
          <a:xfrm>
            <a:off x="991484" y="3671597"/>
            <a:ext cx="863272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A blue logo with text&#10;&#10;AI-generated content may be incorrect.">
            <a:extLst>
              <a:ext uri="{FF2B5EF4-FFF2-40B4-BE49-F238E27FC236}">
                <a16:creationId xmlns:a16="http://schemas.microsoft.com/office/drawing/2014/main" id="{BF8CA9C1-5CE5-DDFE-03BF-5F06085AC7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531" y="0"/>
            <a:ext cx="987469" cy="6583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25DC7B-FE2E-9F86-6744-266601BDD7FC}"/>
              </a:ext>
            </a:extLst>
          </p:cNvPr>
          <p:cNvSpPr txBox="1"/>
          <p:nvPr/>
        </p:nvSpPr>
        <p:spPr>
          <a:xfrm>
            <a:off x="1208541" y="984376"/>
            <a:ext cx="847623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45000"/>
            </a:pPr>
            <a:r>
              <a:rPr lang="el-GR" sz="2000" dirty="0"/>
              <a:t>🛠️</a:t>
            </a:r>
            <a:r>
              <a:rPr lang="en-GB" sz="2000" b="1" dirty="0"/>
              <a:t>We Develop:</a:t>
            </a:r>
            <a:endParaRPr lang="el-GR" sz="2000" b="1" dirty="0"/>
          </a:p>
          <a:p>
            <a:pPr>
              <a:buClr>
                <a:schemeClr val="tx1"/>
              </a:buClr>
              <a:buSzPct val="145000"/>
            </a:pPr>
            <a:endParaRPr lang="en-GB" sz="2000" b="1" dirty="0"/>
          </a:p>
          <a:p>
            <a:pPr marL="342900" indent="-34290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Custom inspection checklists and reporting models</a:t>
            </a:r>
            <a:endParaRPr lang="el-GR" sz="14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342900" indent="-34290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Data classification and tagging workflows </a:t>
            </a:r>
            <a:endParaRPr lang="el-GR" sz="1400" dirty="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342900" indent="-34290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Mission optimization templates </a:t>
            </a:r>
            <a:endParaRPr lang="el-GR" sz="1400" dirty="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342900" indent="-34290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Historical mission database for trend analysis </a:t>
            </a:r>
            <a:endParaRPr lang="el-GR" sz="1400" dirty="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342900" indent="-34290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Operational analytics and performance tracking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B20E1E-5D8D-BA8E-B3CD-F9700CB78FA8}"/>
              </a:ext>
            </a:extLst>
          </p:cNvPr>
          <p:cNvSpPr txBox="1"/>
          <p:nvPr/>
        </p:nvSpPr>
        <p:spPr>
          <a:xfrm>
            <a:off x="1208541" y="144490"/>
            <a:ext cx="495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el-GR" sz="2400" dirty="0"/>
              <a:t>📊</a:t>
            </a:r>
            <a:r>
              <a:rPr lang="en-GB" sz="2400" b="1" dirty="0"/>
              <a:t>Algorithms / Data / Solutions:</a:t>
            </a:r>
            <a:endParaRPr lang="el-GR" sz="2400" b="1" dirty="0"/>
          </a:p>
        </p:txBody>
      </p:sp>
    </p:spTree>
    <p:extLst>
      <p:ext uri="{BB962C8B-B14F-4D97-AF65-F5344CB8AC3E}">
        <p14:creationId xmlns:p14="http://schemas.microsoft.com/office/powerpoint/2010/main" val="418240081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Διάγραμμα ροής: Διεργασία 8">
            <a:extLst>
              <a:ext uri="{FF2B5EF4-FFF2-40B4-BE49-F238E27FC236}">
                <a16:creationId xmlns:a16="http://schemas.microsoft.com/office/drawing/2014/main" id="{D9D40CF7-BBE8-2EF4-9C27-1D5C97AD8157}"/>
              </a:ext>
            </a:extLst>
          </p:cNvPr>
          <p:cNvSpPr/>
          <p:nvPr/>
        </p:nvSpPr>
        <p:spPr>
          <a:xfrm>
            <a:off x="5220938" y="1750142"/>
            <a:ext cx="4309142" cy="3570208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" name="Διάγραμμα ροής: Διεργασία 6">
            <a:extLst>
              <a:ext uri="{FF2B5EF4-FFF2-40B4-BE49-F238E27FC236}">
                <a16:creationId xmlns:a16="http://schemas.microsoft.com/office/drawing/2014/main" id="{40708CE4-4072-5A7C-83BA-C7930D273391}"/>
              </a:ext>
            </a:extLst>
          </p:cNvPr>
          <p:cNvSpPr/>
          <p:nvPr/>
        </p:nvSpPr>
        <p:spPr>
          <a:xfrm>
            <a:off x="950961" y="1750142"/>
            <a:ext cx="3590559" cy="3421298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4DDCC-FB50-69D2-03A4-8695F96BF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577" y="171334"/>
            <a:ext cx="8346723" cy="553452"/>
          </a:xfrm>
        </p:spPr>
        <p:txBody>
          <a:bodyPr>
            <a:noAutofit/>
          </a:bodyPr>
          <a:lstStyle/>
          <a:p>
            <a:r>
              <a:rPr lang="en-US" b="1" i="1" dirty="0"/>
              <a:t>Pricing and Revenue</a:t>
            </a:r>
            <a:endParaRPr lang="el-GR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8B78B-8FC0-17F6-F868-57026A8B3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260" y="749718"/>
            <a:ext cx="8593590" cy="776659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🏢</a:t>
            </a:r>
            <a:r>
              <a:rPr lang="en-GB" sz="2000" b="1" dirty="0"/>
              <a:t>Business Model: </a:t>
            </a:r>
            <a:r>
              <a:rPr lang="en-GB" sz="1800" dirty="0"/>
              <a:t>B2B &amp; B2G (Business to Government) service-based model.</a:t>
            </a:r>
          </a:p>
        </p:txBody>
      </p:sp>
      <p:pic>
        <p:nvPicPr>
          <p:cNvPr id="4" name="Picture 3" descr="A blue logo with text&#10;&#10;AI-generated content may be incorrect.">
            <a:extLst>
              <a:ext uri="{FF2B5EF4-FFF2-40B4-BE49-F238E27FC236}">
                <a16:creationId xmlns:a16="http://schemas.microsoft.com/office/drawing/2014/main" id="{2B4A2064-64D0-7B01-26DB-5F3A2BC968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49" y="118904"/>
            <a:ext cx="987469" cy="65831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9C4D14-77B6-8D22-0FC3-37FB476AA2C7}"/>
              </a:ext>
            </a:extLst>
          </p:cNvPr>
          <p:cNvCxnSpPr>
            <a:cxnSpLocks/>
          </p:cNvCxnSpPr>
          <p:nvPr/>
        </p:nvCxnSpPr>
        <p:spPr>
          <a:xfrm>
            <a:off x="4881067" y="1652475"/>
            <a:ext cx="0" cy="3765755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5FFDDB-C02A-908A-9983-7F8470E6B1DE}"/>
              </a:ext>
            </a:extLst>
          </p:cNvPr>
          <p:cNvSpPr txBox="1"/>
          <p:nvPr/>
        </p:nvSpPr>
        <p:spPr>
          <a:xfrm>
            <a:off x="5220939" y="1750142"/>
            <a:ext cx="4182044" cy="3582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45000"/>
            </a:pPr>
            <a:r>
              <a:rPr lang="el-GR" sz="2000" dirty="0"/>
              <a:t>💶</a:t>
            </a:r>
            <a:r>
              <a:rPr lang="en-GB" sz="2000" b="1" dirty="0"/>
              <a:t>Pricing Logic:</a:t>
            </a:r>
            <a:endParaRPr lang="el-GR" sz="2000" b="1" dirty="0"/>
          </a:p>
          <a:p>
            <a:pPr>
              <a:buClr>
                <a:schemeClr val="tx1"/>
              </a:buClr>
            </a:pPr>
            <a:r>
              <a:rPr lang="en-GB" sz="2000" b="1" dirty="0"/>
              <a:t> 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Standard inspection mission: €5,000 – €7,500</a:t>
            </a:r>
            <a:endParaRPr lang="el-GR" sz="1400" dirty="0"/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Complex / multi-day inspection: €7,500 – €12,000</a:t>
            </a:r>
            <a:endParaRPr lang="el-GR" sz="1400" dirty="0"/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Projects (training / leasing / research): €12,000 – €20,000 per project</a:t>
            </a:r>
            <a:endParaRPr lang="el-GR" sz="1400" dirty="0"/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Long-term contracts: volume discounts</a:t>
            </a:r>
            <a:endParaRPr lang="el-GR" sz="1400" dirty="0"/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Leasing: monthly subscription model</a:t>
            </a:r>
            <a:endParaRPr lang="el-GR" sz="1400" dirty="0"/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Training: per participant / per program fee</a:t>
            </a:r>
            <a:endParaRPr lang="el-GR" sz="1400" dirty="0"/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b="1" dirty="0"/>
              <a:t>Final pricing depends on mission duration, depth, sensors, logistics &amp; reporting level</a:t>
            </a:r>
            <a:endParaRPr lang="el-GR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D78C2-B5F0-18AD-B0C0-07DD36800A21}"/>
              </a:ext>
            </a:extLst>
          </p:cNvPr>
          <p:cNvSpPr txBox="1"/>
          <p:nvPr/>
        </p:nvSpPr>
        <p:spPr>
          <a:xfrm>
            <a:off x="965208" y="1750142"/>
            <a:ext cx="369791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45000"/>
            </a:pPr>
            <a:r>
              <a:rPr lang="el-GR" sz="2000" dirty="0"/>
              <a:t>💰</a:t>
            </a:r>
            <a:r>
              <a:rPr lang="en-GB" sz="2000" b="1" dirty="0"/>
              <a:t>How We Generate Revenue:</a:t>
            </a:r>
            <a:endParaRPr lang="el-GR" sz="2000" b="1" dirty="0"/>
          </a:p>
          <a:p>
            <a:pPr>
              <a:buClr>
                <a:schemeClr val="tx1"/>
              </a:buClr>
              <a:buSzPct val="145000"/>
            </a:pPr>
            <a:endParaRPr lang="en-GB" sz="2000" b="1" dirty="0"/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Pay-per-mission service fees 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Long-term service contracts </a:t>
            </a:r>
            <a:endParaRPr lang="el-GR" sz="1400" dirty="0"/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1400" dirty="0"/>
              <a:t>Project-based contracts (training, leasing, research)</a:t>
            </a:r>
            <a:endParaRPr lang="en-GB" sz="1400" dirty="0"/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Equipment + operator leasing 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Data analysis &amp; reporting packages 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Training programs and certifications 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Research project collaborations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4610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C909F-8168-3FF7-0B3E-310B9F8EC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260" y="448061"/>
            <a:ext cx="8346723" cy="2665506"/>
          </a:xfrm>
        </p:spPr>
        <p:txBody>
          <a:bodyPr/>
          <a:lstStyle/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💼</a:t>
            </a:r>
            <a:r>
              <a:rPr lang="en-GB" sz="2000" b="1" dirty="0"/>
              <a:t>Revenue Streams by Segment:</a:t>
            </a:r>
          </a:p>
          <a:p>
            <a:pPr>
              <a:buClr>
                <a:schemeClr val="tx1"/>
              </a:buClr>
            </a:pPr>
            <a:r>
              <a:rPr lang="el-GR" sz="1400" dirty="0"/>
              <a:t>⚓</a:t>
            </a:r>
            <a:r>
              <a:rPr lang="en-GB" sz="1400" dirty="0"/>
              <a:t>Ports &amp; municipalities → ROV inspections</a:t>
            </a:r>
            <a:endParaRPr lang="el-GR" sz="1400" dirty="0"/>
          </a:p>
          <a:p>
            <a:pPr>
              <a:buClr>
                <a:schemeClr val="tx1"/>
              </a:buClr>
            </a:pPr>
            <a:r>
              <a:rPr lang="el-GR" sz="1400" dirty="0"/>
              <a:t>🌊</a:t>
            </a:r>
            <a:r>
              <a:rPr lang="en-GB" sz="1400" dirty="0"/>
              <a:t>Offshore energy → recurring surveys</a:t>
            </a:r>
            <a:endParaRPr lang="el-GR" sz="1400" dirty="0"/>
          </a:p>
          <a:p>
            <a:pPr>
              <a:buClr>
                <a:schemeClr val="tx1"/>
              </a:buClr>
            </a:pPr>
            <a:r>
              <a:rPr lang="el-GR" sz="1400" dirty="0"/>
              <a:t>🎓</a:t>
            </a:r>
            <a:r>
              <a:rPr lang="en-GB" sz="1400" dirty="0"/>
              <a:t>Universities → leasing &amp; research projects</a:t>
            </a:r>
            <a:endParaRPr lang="el-GR" sz="1400" dirty="0"/>
          </a:p>
          <a:p>
            <a:pPr>
              <a:buClr>
                <a:schemeClr val="tx1"/>
              </a:buClr>
            </a:pPr>
            <a:r>
              <a:rPr lang="el-GR" sz="1400" dirty="0"/>
              <a:t>🌱</a:t>
            </a:r>
            <a:r>
              <a:rPr lang="en-GB" sz="1400" dirty="0"/>
              <a:t>Environmental agencies → monitoring programs</a:t>
            </a:r>
            <a:endParaRPr lang="el-GR" sz="1400" dirty="0"/>
          </a:p>
          <a:p>
            <a:pPr>
              <a:buClr>
                <a:schemeClr val="tx1"/>
              </a:buClr>
            </a:pPr>
            <a:r>
              <a:rPr lang="el-GR" sz="1400" dirty="0"/>
              <a:t>🏫</a:t>
            </a:r>
            <a:r>
              <a:rPr lang="en-GB" sz="1400" dirty="0"/>
              <a:t>Training organizations → training projects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984A8E-5743-6D5C-8BF5-B047E8D942E2}"/>
              </a:ext>
            </a:extLst>
          </p:cNvPr>
          <p:cNvCxnSpPr>
            <a:cxnSpLocks/>
          </p:cNvCxnSpPr>
          <p:nvPr/>
        </p:nvCxnSpPr>
        <p:spPr>
          <a:xfrm>
            <a:off x="838155" y="2974602"/>
            <a:ext cx="822969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Picture 8" descr="A blue logo with text&#10;&#10;AI-generated content may be incorrect.">
            <a:extLst>
              <a:ext uri="{FF2B5EF4-FFF2-40B4-BE49-F238E27FC236}">
                <a16:creationId xmlns:a16="http://schemas.microsoft.com/office/drawing/2014/main" id="{FA20B136-E6DE-23C5-E39C-927519E4FB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49" y="118904"/>
            <a:ext cx="987469" cy="6583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E32CE6-09EA-7F70-2CA6-6588D3890978}"/>
              </a:ext>
            </a:extLst>
          </p:cNvPr>
          <p:cNvSpPr txBox="1"/>
          <p:nvPr/>
        </p:nvSpPr>
        <p:spPr>
          <a:xfrm>
            <a:off x="2006857" y="5132276"/>
            <a:ext cx="58922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l-GR" sz="2800" dirty="0"/>
              <a:t>💰</a:t>
            </a:r>
            <a:r>
              <a:rPr lang="en-GB" sz="2800" dirty="0"/>
              <a:t>Estimated Yearly Revenue </a:t>
            </a:r>
            <a:r>
              <a:rPr lang="el-GR" sz="2800" i="1" dirty="0"/>
              <a:t>(</a:t>
            </a:r>
            <a:r>
              <a:rPr lang="en-US" sz="2800" i="1" dirty="0"/>
              <a:t>Year 1)</a:t>
            </a:r>
            <a:r>
              <a:rPr lang="en-GB" sz="2800" dirty="0"/>
              <a:t>: </a:t>
            </a:r>
            <a:r>
              <a:rPr lang="en-GB" sz="3200" b="1" dirty="0"/>
              <a:t>~€3</a:t>
            </a:r>
            <a:r>
              <a:rPr lang="el-GR" sz="3200" b="1" dirty="0"/>
              <a:t>0</a:t>
            </a:r>
            <a:r>
              <a:rPr lang="en-GB" sz="3200" b="1" dirty="0"/>
              <a:t>0,000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9038002-2000-F360-D848-57154DFEA05A}"/>
              </a:ext>
            </a:extLst>
          </p:cNvPr>
          <p:cNvSpPr txBox="1">
            <a:spLocks/>
          </p:cNvSpPr>
          <p:nvPr/>
        </p:nvSpPr>
        <p:spPr>
          <a:xfrm>
            <a:off x="1056259" y="3113567"/>
            <a:ext cx="8346723" cy="1518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🧮</a:t>
            </a:r>
            <a:r>
              <a:rPr lang="en-GB" sz="2000" b="1" dirty="0"/>
              <a:t>Example Annual Revenue Calculation: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l-GR" sz="1400" dirty="0"/>
              <a:t>🔍</a:t>
            </a:r>
            <a:r>
              <a:rPr lang="en-US" sz="1400" dirty="0"/>
              <a:t>ROV inspections: 40 missions × €6,000 = €240,000</a:t>
            </a:r>
            <a:endParaRPr lang="el-GR" sz="14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l-GR" sz="1400" dirty="0"/>
              <a:t>🧰</a:t>
            </a:r>
            <a:r>
              <a:rPr lang="en-US" sz="1400" dirty="0"/>
              <a:t>ROV projects (training / leasing): 5 projects × €12,000 = €60,000</a:t>
            </a:r>
            <a:endParaRPr lang="en-GB" sz="1400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28066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1FB66-1A56-86F1-E913-257AA72F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351" y="99193"/>
            <a:ext cx="8346723" cy="658313"/>
          </a:xfrm>
        </p:spPr>
        <p:txBody>
          <a:bodyPr>
            <a:noAutofit/>
          </a:bodyPr>
          <a:lstStyle/>
          <a:p>
            <a:r>
              <a:rPr lang="en-US" b="1" i="1" dirty="0"/>
              <a:t>Cost Structure</a:t>
            </a:r>
            <a:endParaRPr lang="el-GR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2C0BD-11AB-7845-E5A1-C59C7DD24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986" y="777217"/>
            <a:ext cx="8346723" cy="2209800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👥</a:t>
            </a:r>
            <a:r>
              <a:rPr lang="en-GB" sz="2000" b="1" dirty="0"/>
              <a:t>Personnel Costs (Founders + staff, per year):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b="1" dirty="0"/>
              <a:t>Year 1:  </a:t>
            </a:r>
            <a:r>
              <a:rPr lang="en-GB" sz="1400" dirty="0"/>
              <a:t>5 people (3 founders + 2 operators) → 110,000€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b="1" dirty="0"/>
              <a:t>Year 2:  </a:t>
            </a:r>
            <a:r>
              <a:rPr lang="en-GB" sz="1400" dirty="0"/>
              <a:t>6 people → 141,000€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b="1" dirty="0"/>
              <a:t>Year 3:  </a:t>
            </a:r>
            <a:r>
              <a:rPr lang="en-GB" sz="1400" dirty="0"/>
              <a:t>7 people → 175,000€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b="1" dirty="0"/>
              <a:t>Year 4: </a:t>
            </a:r>
            <a:r>
              <a:rPr lang="en-GB" sz="1400" dirty="0"/>
              <a:t> 8 people → 216,000€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1200" i="1" dirty="0"/>
              <a:t>Assumes average modeled cost per person (not actual salaries).</a:t>
            </a:r>
            <a:endParaRPr lang="en-GB" sz="1200" i="1" dirty="0"/>
          </a:p>
        </p:txBody>
      </p:sp>
      <p:pic>
        <p:nvPicPr>
          <p:cNvPr id="4" name="Picture 3" descr="A blue logo with text&#10;&#10;AI-generated content may be incorrect.">
            <a:extLst>
              <a:ext uri="{FF2B5EF4-FFF2-40B4-BE49-F238E27FC236}">
                <a16:creationId xmlns:a16="http://schemas.microsoft.com/office/drawing/2014/main" id="{9B2424EF-457C-E84E-3C68-73F110D3B2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49" y="118904"/>
            <a:ext cx="987469" cy="65831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981A8A-D29F-15B1-0CE4-C474803D8F50}"/>
              </a:ext>
            </a:extLst>
          </p:cNvPr>
          <p:cNvCxnSpPr/>
          <p:nvPr/>
        </p:nvCxnSpPr>
        <p:spPr>
          <a:xfrm>
            <a:off x="1294603" y="2987017"/>
            <a:ext cx="788547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ABDEC56-6D12-473D-146E-0E7585F2C3AD}"/>
              </a:ext>
            </a:extLst>
          </p:cNvPr>
          <p:cNvSpPr txBox="1">
            <a:spLocks/>
          </p:cNvSpPr>
          <p:nvPr/>
        </p:nvSpPr>
        <p:spPr>
          <a:xfrm>
            <a:off x="1306986" y="3067426"/>
            <a:ext cx="8346723" cy="2209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⚙️</a:t>
            </a:r>
            <a:r>
              <a:rPr lang="en-GB" sz="2000" b="1" dirty="0"/>
              <a:t>Operating</a:t>
            </a:r>
            <a:r>
              <a:rPr lang="el-GR" sz="2000" b="1" dirty="0"/>
              <a:t> &amp; </a:t>
            </a:r>
            <a:r>
              <a:rPr lang="en-US" sz="2000" b="1" dirty="0"/>
              <a:t>Fixed</a:t>
            </a:r>
            <a:r>
              <a:rPr lang="en-GB" sz="2000" b="1" dirty="0"/>
              <a:t> Costs (per year):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500" b="1" dirty="0"/>
              <a:t>📣 Marketing: </a:t>
            </a:r>
            <a:r>
              <a:rPr lang="en-GB" sz="1500" dirty="0"/>
              <a:t>€</a:t>
            </a:r>
            <a:r>
              <a:rPr lang="el-GR" sz="1500" dirty="0"/>
              <a:t>8,000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500" b="1" dirty="0"/>
              <a:t>🏢 Administrative: </a:t>
            </a:r>
            <a:r>
              <a:rPr lang="en-GB" sz="1500" dirty="0"/>
              <a:t>€10,000</a:t>
            </a:r>
            <a:endParaRPr lang="el-GR" sz="15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500" b="1" dirty="0"/>
              <a:t>🛡️ Insurance &amp; Compliance: </a:t>
            </a:r>
            <a:r>
              <a:rPr lang="en-GB" sz="1500" dirty="0"/>
              <a:t>€6,000</a:t>
            </a:r>
            <a:endParaRPr lang="el-GR" sz="15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500" b="1" dirty="0"/>
              <a:t>💻 Digital tools &amp; subscriptions: </a:t>
            </a:r>
            <a:r>
              <a:rPr lang="en-US" sz="1600" dirty="0"/>
              <a:t>€7,000</a:t>
            </a:r>
            <a:endParaRPr lang="el-GR" sz="15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500" b="1" dirty="0"/>
              <a:t>🔩 Other operational expenses: </a:t>
            </a:r>
            <a:r>
              <a:rPr lang="en-GB" sz="1500" dirty="0"/>
              <a:t>€5,000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915FDB-2BC1-1C22-9EBD-7D423EDCD46A}"/>
              </a:ext>
            </a:extLst>
          </p:cNvPr>
          <p:cNvSpPr txBox="1"/>
          <p:nvPr/>
        </p:nvSpPr>
        <p:spPr>
          <a:xfrm>
            <a:off x="1294603" y="5467726"/>
            <a:ext cx="24803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 Total: </a:t>
            </a:r>
            <a:r>
              <a:rPr lang="en-GB" sz="2400" dirty="0"/>
              <a:t>€</a:t>
            </a:r>
            <a:r>
              <a:rPr lang="el-GR" sz="2400" dirty="0"/>
              <a:t>36,000</a:t>
            </a:r>
          </a:p>
        </p:txBody>
      </p:sp>
    </p:spTree>
    <p:extLst>
      <p:ext uri="{BB962C8B-B14F-4D97-AF65-F5344CB8AC3E}">
        <p14:creationId xmlns:p14="http://schemas.microsoft.com/office/powerpoint/2010/main" val="1611917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Διάγραμμα ροής: Διεργασία 4">
            <a:extLst>
              <a:ext uri="{FF2B5EF4-FFF2-40B4-BE49-F238E27FC236}">
                <a16:creationId xmlns:a16="http://schemas.microsoft.com/office/drawing/2014/main" id="{FF21EF99-786E-FDE9-A73D-7ED9FC08CDBE}"/>
              </a:ext>
            </a:extLst>
          </p:cNvPr>
          <p:cNvSpPr/>
          <p:nvPr/>
        </p:nvSpPr>
        <p:spPr>
          <a:xfrm>
            <a:off x="5411511" y="1898248"/>
            <a:ext cx="4114451" cy="2997843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" name="Διάγραμμα ροής: Διεργασία 1">
            <a:extLst>
              <a:ext uri="{FF2B5EF4-FFF2-40B4-BE49-F238E27FC236}">
                <a16:creationId xmlns:a16="http://schemas.microsoft.com/office/drawing/2014/main" id="{B4E95654-2915-ABFC-5393-CA60D0A8BE90}"/>
              </a:ext>
            </a:extLst>
          </p:cNvPr>
          <p:cNvSpPr/>
          <p:nvPr/>
        </p:nvSpPr>
        <p:spPr>
          <a:xfrm>
            <a:off x="1184644" y="1038112"/>
            <a:ext cx="3768356" cy="5052164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6838-746A-C03D-01A9-98E36B886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4868" y="1038112"/>
            <a:ext cx="3708132" cy="5052164"/>
          </a:xfrm>
        </p:spPr>
        <p:txBody>
          <a:bodyPr>
            <a:normAutofit fontScale="92500" lnSpcReduction="10000"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2000" dirty="0"/>
              <a:t>💻 </a:t>
            </a:r>
            <a:r>
              <a:rPr lang="en-US" sz="2000" b="1" dirty="0"/>
              <a:t>Digital Infrastructure &amp; Sales Tools</a:t>
            </a:r>
            <a:r>
              <a:rPr lang="el-GR" sz="2000" b="1" dirty="0"/>
              <a:t> </a:t>
            </a:r>
            <a:r>
              <a:rPr lang="en-GB" sz="2000" b="1" dirty="0"/>
              <a:t>(per year):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b="1" dirty="0"/>
              <a:t>🌐 Website hosting &amp; cloud services</a:t>
            </a:r>
            <a:endParaRPr lang="el-GR" sz="1400" b="1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b="1" dirty="0"/>
              <a:t>☁️ Data storage &amp; backups</a:t>
            </a:r>
            <a:endParaRPr lang="el-GR" sz="1400" b="1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b="1" dirty="0"/>
              <a:t>🧑‍💼 CRM &amp; sales tools</a:t>
            </a:r>
            <a:endParaRPr lang="el-GR" sz="1400" b="1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b="1" dirty="0"/>
              <a:t>📊 Project management &amp; reporting software</a:t>
            </a:r>
            <a:endParaRPr lang="el-GR" sz="1400" b="1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b="1" dirty="0"/>
              <a:t>🔐 Cybersecurity &amp; licenses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GB" sz="1800" b="1" dirty="0"/>
              <a:t>Total: </a:t>
            </a:r>
            <a:r>
              <a:rPr lang="en-GB" sz="1800" dirty="0"/>
              <a:t>€7,000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endParaRPr lang="en-GB" sz="1800" b="1" dirty="0"/>
          </a:p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🧾</a:t>
            </a:r>
            <a:r>
              <a:rPr lang="en-GB" sz="2000" b="1" dirty="0"/>
              <a:t>Other Costs (per year):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 </a:t>
            </a:r>
            <a:r>
              <a:rPr lang="en-GB" sz="1400" b="1" dirty="0"/>
              <a:t>Insurance &amp; certifications:  </a:t>
            </a:r>
            <a:r>
              <a:rPr lang="en-GB" sz="1400" dirty="0"/>
              <a:t>€5,000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b="1" dirty="0"/>
              <a:t>Legal &amp; accounting:  </a:t>
            </a:r>
            <a:r>
              <a:rPr lang="en-GB" sz="1400" dirty="0"/>
              <a:t>€3,000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b="1" dirty="0"/>
              <a:t>Consumables &amp; spare parts:  </a:t>
            </a:r>
            <a:r>
              <a:rPr lang="en-GB" sz="1400" dirty="0"/>
              <a:t>€3,000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GB" sz="1400" b="1" dirty="0"/>
          </a:p>
          <a:p>
            <a:pPr marL="0" indent="0">
              <a:buClr>
                <a:schemeClr val="tx1"/>
              </a:buClr>
              <a:buNone/>
            </a:pPr>
            <a:r>
              <a:rPr lang="en-GB" sz="1800" b="1" dirty="0"/>
              <a:t>Total: </a:t>
            </a:r>
            <a:r>
              <a:rPr lang="en-GB" sz="1800" dirty="0"/>
              <a:t>€11,000</a:t>
            </a:r>
            <a:endParaRPr lang="en-GB" sz="1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109F1F-0307-2004-B712-560423EB3872}"/>
              </a:ext>
            </a:extLst>
          </p:cNvPr>
          <p:cNvSpPr txBox="1"/>
          <p:nvPr/>
        </p:nvSpPr>
        <p:spPr>
          <a:xfrm>
            <a:off x="5493786" y="2644170"/>
            <a:ext cx="39091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145000"/>
            </a:pPr>
            <a:r>
              <a:rPr lang="el-GR" sz="2000" dirty="0"/>
              <a:t>💰</a:t>
            </a:r>
            <a:r>
              <a:rPr lang="en-GB" sz="2000" b="1" dirty="0"/>
              <a:t>Estimated Total Annual Cost (Year 1):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GB" b="1" dirty="0"/>
              <a:t>Total: </a:t>
            </a:r>
            <a:r>
              <a:rPr lang="en-US" dirty="0"/>
              <a:t>€110,000 (Personnel) + €36,000 (Fixed) = </a:t>
            </a:r>
            <a:r>
              <a:rPr lang="en-US" b="1" dirty="0"/>
              <a:t>€146,000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C086B25-8921-F0E1-E103-D428C71198EF}"/>
              </a:ext>
            </a:extLst>
          </p:cNvPr>
          <p:cNvCxnSpPr>
            <a:cxnSpLocks/>
          </p:cNvCxnSpPr>
          <p:nvPr/>
        </p:nvCxnSpPr>
        <p:spPr>
          <a:xfrm>
            <a:off x="5182255" y="1038112"/>
            <a:ext cx="0" cy="50521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 descr="A blue logo with text&#10;&#10;AI-generated content may be incorrect.">
            <a:extLst>
              <a:ext uri="{FF2B5EF4-FFF2-40B4-BE49-F238E27FC236}">
                <a16:creationId xmlns:a16="http://schemas.microsoft.com/office/drawing/2014/main" id="{E026C013-47A8-597E-07B6-96E13CC537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49" y="118904"/>
            <a:ext cx="987469" cy="65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9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Διάγραμμα ροής: Διεργασία 17">
            <a:extLst>
              <a:ext uri="{FF2B5EF4-FFF2-40B4-BE49-F238E27FC236}">
                <a16:creationId xmlns:a16="http://schemas.microsoft.com/office/drawing/2014/main" id="{99AD3A91-5B90-009D-BEED-C1882E529C50}"/>
              </a:ext>
            </a:extLst>
          </p:cNvPr>
          <p:cNvSpPr/>
          <p:nvPr/>
        </p:nvSpPr>
        <p:spPr>
          <a:xfrm>
            <a:off x="5891350" y="2072641"/>
            <a:ext cx="2855340" cy="2600960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9" name="Διάγραμμα ροής: Διεργασία 18">
            <a:extLst>
              <a:ext uri="{FF2B5EF4-FFF2-40B4-BE49-F238E27FC236}">
                <a16:creationId xmlns:a16="http://schemas.microsoft.com/office/drawing/2014/main" id="{22401E8F-76B7-FB33-A51F-E66394B5DD16}"/>
              </a:ext>
            </a:extLst>
          </p:cNvPr>
          <p:cNvSpPr/>
          <p:nvPr/>
        </p:nvSpPr>
        <p:spPr>
          <a:xfrm>
            <a:off x="1824791" y="3790652"/>
            <a:ext cx="2726338" cy="2773588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7" name="Διάγραμμα ροής: Διεργασία 16">
            <a:extLst>
              <a:ext uri="{FF2B5EF4-FFF2-40B4-BE49-F238E27FC236}">
                <a16:creationId xmlns:a16="http://schemas.microsoft.com/office/drawing/2014/main" id="{70CFB063-74D8-5294-90EC-F1FDBD310DEB}"/>
              </a:ext>
            </a:extLst>
          </p:cNvPr>
          <p:cNvSpPr/>
          <p:nvPr/>
        </p:nvSpPr>
        <p:spPr>
          <a:xfrm>
            <a:off x="1638040" y="866083"/>
            <a:ext cx="2902029" cy="2562918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7E36A-70C6-EEED-3416-C9F31619B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978" y="118904"/>
            <a:ext cx="8346723" cy="658313"/>
          </a:xfrm>
        </p:spPr>
        <p:txBody>
          <a:bodyPr>
            <a:noAutofit/>
          </a:bodyPr>
          <a:lstStyle/>
          <a:p>
            <a:r>
              <a:rPr lang="tr-TR" b="1" i="1" dirty="0"/>
              <a:t>Roadmap</a:t>
            </a:r>
            <a:endParaRPr lang="el-GR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852D2-34EE-5D64-5341-2273A8A3A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4729" y="926985"/>
            <a:ext cx="2855340" cy="2562918"/>
          </a:xfrm>
        </p:spPr>
        <p:txBody>
          <a:bodyPr>
            <a:normAutofit fontScale="92500" lnSpcReduction="20000"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🚀</a:t>
            </a:r>
            <a:r>
              <a:rPr lang="en-GB" sz="2000" b="1" dirty="0"/>
              <a:t>0–6 Months: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Acquire first professional ROV and mission equipment 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Operator training and certifications 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Pilot projects with local clients 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Establish operational procedures and safety protocols</a:t>
            </a:r>
            <a:endParaRPr lang="el-GR" sz="1400" dirty="0"/>
          </a:p>
          <a:p>
            <a:pPr>
              <a:buClr>
                <a:schemeClr val="tx1"/>
              </a:buClr>
            </a:pPr>
            <a:r>
              <a:rPr lang="en-US" sz="1400" dirty="0"/>
              <a:t>Initial regulatory approvals &amp; insurance setup</a:t>
            </a:r>
            <a:endParaRPr lang="en-GB" sz="1400" dirty="0"/>
          </a:p>
          <a:p>
            <a:pPr marL="0" indent="0">
              <a:buClr>
                <a:schemeClr val="tx1"/>
              </a:buClr>
              <a:buNone/>
            </a:pPr>
            <a:endParaRPr lang="en-GB" sz="1400" dirty="0"/>
          </a:p>
        </p:txBody>
      </p:sp>
      <p:pic>
        <p:nvPicPr>
          <p:cNvPr id="4" name="Picture 3" descr="A blue logo with text&#10;&#10;AI-generated content may be incorrect.">
            <a:extLst>
              <a:ext uri="{FF2B5EF4-FFF2-40B4-BE49-F238E27FC236}">
                <a16:creationId xmlns:a16="http://schemas.microsoft.com/office/drawing/2014/main" id="{57C4377F-AE2E-0780-53C6-C923DB2BB8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49" y="118904"/>
            <a:ext cx="987469" cy="65831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AB452B8-C135-2B9D-F911-E2E7E18547E4}"/>
              </a:ext>
            </a:extLst>
          </p:cNvPr>
          <p:cNvSpPr txBox="1">
            <a:spLocks/>
          </p:cNvSpPr>
          <p:nvPr/>
        </p:nvSpPr>
        <p:spPr>
          <a:xfrm>
            <a:off x="5891349" y="1426076"/>
            <a:ext cx="2855340" cy="3759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📈</a:t>
            </a:r>
            <a:r>
              <a:rPr lang="en-GB" sz="2000" b="1" dirty="0"/>
              <a:t>6–12 Months: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Commercial launch of inspection and monitoring services 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First recurring contracts 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Expand fleet with second ROV 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Marketing expansion and partnerships</a:t>
            </a:r>
            <a:endParaRPr lang="el-GR" sz="14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98032C9-47E8-F532-6AAE-E1ED4176FFCE}"/>
              </a:ext>
            </a:extLst>
          </p:cNvPr>
          <p:cNvSpPr txBox="1">
            <a:spLocks/>
          </p:cNvSpPr>
          <p:nvPr/>
        </p:nvSpPr>
        <p:spPr>
          <a:xfrm>
            <a:off x="1879220" y="3863971"/>
            <a:ext cx="2520060" cy="27002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🌍</a:t>
            </a:r>
            <a:r>
              <a:rPr lang="en-GB" sz="2200" b="1" dirty="0"/>
              <a:t>12–24 Months: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Launch leasing and training services 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Research collaborations with universities 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Geographic expansion within national market 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Process automation and reporting platform upgrades</a:t>
            </a:r>
            <a:endParaRPr lang="el-GR" sz="1400" dirty="0"/>
          </a:p>
          <a:p>
            <a:pPr>
              <a:buClr>
                <a:schemeClr val="tx1"/>
              </a:buClr>
            </a:pPr>
            <a:r>
              <a:rPr lang="en-US" sz="1400" dirty="0"/>
              <a:t>Fleet utilization optimization &amp; cost efficiency</a:t>
            </a:r>
            <a:endParaRPr lang="en-GB" sz="1400" dirty="0"/>
          </a:p>
        </p:txBody>
      </p:sp>
      <p:cxnSp>
        <p:nvCxnSpPr>
          <p:cNvPr id="21" name="Ευθύγραμμο βέλος σύνδεσης 20">
            <a:extLst>
              <a:ext uri="{FF2B5EF4-FFF2-40B4-BE49-F238E27FC236}">
                <a16:creationId xmlns:a16="http://schemas.microsoft.com/office/drawing/2014/main" id="{CEBC1DD7-43CC-6A6E-6353-C69CB8F5973D}"/>
              </a:ext>
            </a:extLst>
          </p:cNvPr>
          <p:cNvCxnSpPr/>
          <p:nvPr/>
        </p:nvCxnSpPr>
        <p:spPr>
          <a:xfrm>
            <a:off x="4734560" y="1788160"/>
            <a:ext cx="883920" cy="4572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Ευθύγραμμο βέλος σύνδεσης 21">
            <a:extLst>
              <a:ext uri="{FF2B5EF4-FFF2-40B4-BE49-F238E27FC236}">
                <a16:creationId xmlns:a16="http://schemas.microsoft.com/office/drawing/2014/main" id="{54CD59CA-056E-17EE-A49A-EB7B0B31932A}"/>
              </a:ext>
            </a:extLst>
          </p:cNvPr>
          <p:cNvCxnSpPr>
            <a:cxnSpLocks/>
          </p:cNvCxnSpPr>
          <p:nvPr/>
        </p:nvCxnSpPr>
        <p:spPr>
          <a:xfrm flipH="1">
            <a:off x="4800964" y="3790652"/>
            <a:ext cx="829491" cy="44704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47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Διάγραμμα ροής: Διεργασία 12">
            <a:extLst>
              <a:ext uri="{FF2B5EF4-FFF2-40B4-BE49-F238E27FC236}">
                <a16:creationId xmlns:a16="http://schemas.microsoft.com/office/drawing/2014/main" id="{668B6196-0119-2299-B3E6-10856944B9F6}"/>
              </a:ext>
            </a:extLst>
          </p:cNvPr>
          <p:cNvSpPr/>
          <p:nvPr/>
        </p:nvSpPr>
        <p:spPr>
          <a:xfrm>
            <a:off x="1041984" y="777217"/>
            <a:ext cx="3712896" cy="1844051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C6DA-83AF-120D-2E0F-9630D4480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984" y="777217"/>
            <a:ext cx="3911016" cy="1758008"/>
          </a:xfrm>
        </p:spPr>
        <p:txBody>
          <a:bodyPr/>
          <a:lstStyle/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📦</a:t>
            </a:r>
            <a:r>
              <a:rPr lang="en-GB" sz="2000" b="1" dirty="0"/>
              <a:t>Product / Service Expansion:</a:t>
            </a:r>
          </a:p>
          <a:p>
            <a:pPr>
              <a:buClr>
                <a:schemeClr val="tx1"/>
              </a:buClr>
            </a:pPr>
            <a:r>
              <a:rPr lang="en-GB" sz="1400" dirty="0"/>
              <a:t>Advanced sensors and payloads </a:t>
            </a:r>
          </a:p>
          <a:p>
            <a:pPr>
              <a:buClr>
                <a:schemeClr val="tx1"/>
              </a:buClr>
            </a:pPr>
            <a:r>
              <a:rPr lang="en-US" sz="1400" dirty="0"/>
              <a:t>Automated data processing &amp; reporting platform</a:t>
            </a:r>
            <a:endParaRPr lang="el-GR" sz="1400" dirty="0"/>
          </a:p>
          <a:p>
            <a:pPr>
              <a:buClr>
                <a:schemeClr val="tx1"/>
              </a:buClr>
            </a:pPr>
            <a:r>
              <a:rPr lang="en-GB" sz="1400" dirty="0"/>
              <a:t>Training programs and certification services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A7685F-1F82-3BDE-330C-14B7A7606178}"/>
              </a:ext>
            </a:extLst>
          </p:cNvPr>
          <p:cNvCxnSpPr>
            <a:cxnSpLocks/>
          </p:cNvCxnSpPr>
          <p:nvPr/>
        </p:nvCxnSpPr>
        <p:spPr>
          <a:xfrm flipH="1">
            <a:off x="853440" y="3282930"/>
            <a:ext cx="87376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61D2D46-9CD8-F5A9-20F6-3EA3784B4879}"/>
              </a:ext>
            </a:extLst>
          </p:cNvPr>
          <p:cNvSpPr txBox="1"/>
          <p:nvPr/>
        </p:nvSpPr>
        <p:spPr>
          <a:xfrm>
            <a:off x="5222239" y="855022"/>
            <a:ext cx="37592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145000"/>
            </a:pPr>
            <a:r>
              <a:rPr lang="el-GR" sz="2000" dirty="0"/>
              <a:t>🌍</a:t>
            </a:r>
            <a:r>
              <a:rPr lang="en-GB" sz="2000" b="1" dirty="0"/>
              <a:t>Market Expansion:</a:t>
            </a:r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Regional expansion to nearby ports and coastal </a:t>
            </a:r>
            <a:r>
              <a:rPr lang="en-US" sz="1400" dirty="0"/>
              <a:t>regions</a:t>
            </a:r>
            <a:endParaRPr lang="el-G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GB" sz="1400" dirty="0"/>
              <a:t>Partnerships with research and environmental organizations</a:t>
            </a:r>
          </a:p>
        </p:txBody>
      </p:sp>
      <p:pic>
        <p:nvPicPr>
          <p:cNvPr id="10" name="Picture 9" descr="A blue logo with text&#10;&#10;AI-generated content may be incorrect.">
            <a:extLst>
              <a:ext uri="{FF2B5EF4-FFF2-40B4-BE49-F238E27FC236}">
                <a16:creationId xmlns:a16="http://schemas.microsoft.com/office/drawing/2014/main" id="{04F923A3-2DEC-23B7-484B-F5898D40D8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49" y="118904"/>
            <a:ext cx="987469" cy="6583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45A7DE-BD41-AAFC-158C-4F1941B145E8}"/>
              </a:ext>
            </a:extLst>
          </p:cNvPr>
          <p:cNvSpPr txBox="1"/>
          <p:nvPr/>
        </p:nvSpPr>
        <p:spPr>
          <a:xfrm>
            <a:off x="1604011" y="4350381"/>
            <a:ext cx="7094221" cy="120032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GB" sz="1800" dirty="0"/>
              <a:t>Regulatory delays </a:t>
            </a:r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GB" sz="1800" dirty="0"/>
              <a:t>Equipment downtime or damage</a:t>
            </a:r>
            <a:r>
              <a:rPr lang="en-GB" sz="1800"/>
              <a:t> </a:t>
            </a:r>
            <a:endParaRPr lang="el-GR" sz="1800" dirty="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endParaRPr lang="el-GR" dirty="0"/>
          </a:p>
          <a:p>
            <a:pPr>
              <a:buSzPct val="145000"/>
            </a:pPr>
            <a:r>
              <a:rPr lang="en-GB" sz="1800" dirty="0"/>
              <a:t> </a:t>
            </a:r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GB" sz="1800" dirty="0"/>
              <a:t>Funding limitations</a:t>
            </a:r>
            <a:endParaRPr lang="el-GR" sz="1800" dirty="0"/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GB" dirty="0"/>
              <a:t>Slower-than-expected customer adoption</a:t>
            </a:r>
            <a:endParaRPr lang="el-G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2EBF05-30C6-E495-EAAE-EBA8D49C8513}"/>
              </a:ext>
            </a:extLst>
          </p:cNvPr>
          <p:cNvSpPr txBox="1"/>
          <p:nvPr/>
        </p:nvSpPr>
        <p:spPr>
          <a:xfrm>
            <a:off x="4118610" y="3770866"/>
            <a:ext cx="1668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45000"/>
            </a:pPr>
            <a:r>
              <a:rPr lang="el-GR" sz="2000" dirty="0"/>
              <a:t>⚠️</a:t>
            </a:r>
            <a:r>
              <a:rPr lang="en-GB" sz="2000" b="1" dirty="0"/>
              <a:t>Key Risks:</a:t>
            </a:r>
            <a:endParaRPr lang="el-GR" sz="2000" b="1" dirty="0"/>
          </a:p>
        </p:txBody>
      </p:sp>
      <p:sp>
        <p:nvSpPr>
          <p:cNvPr id="14" name="Διάγραμμα ροής: Διεργασία 13">
            <a:extLst>
              <a:ext uri="{FF2B5EF4-FFF2-40B4-BE49-F238E27FC236}">
                <a16:creationId xmlns:a16="http://schemas.microsoft.com/office/drawing/2014/main" id="{DE9C2AC9-4043-D996-866D-0D3ADDD87240}"/>
              </a:ext>
            </a:extLst>
          </p:cNvPr>
          <p:cNvSpPr/>
          <p:nvPr/>
        </p:nvSpPr>
        <p:spPr>
          <a:xfrm>
            <a:off x="5151122" y="725022"/>
            <a:ext cx="3434078" cy="1896231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09860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3C95F-667A-6923-B807-D362B81F1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46" y="0"/>
            <a:ext cx="7374194" cy="869686"/>
          </a:xfrm>
        </p:spPr>
        <p:txBody>
          <a:bodyPr>
            <a:normAutofit/>
          </a:bodyPr>
          <a:lstStyle/>
          <a:p>
            <a:r>
              <a:rPr lang="en-US" b="1" i="1" dirty="0"/>
              <a:t>Financials </a:t>
            </a:r>
            <a:endParaRPr lang="el-GR" b="1" i="1" dirty="0"/>
          </a:p>
        </p:txBody>
      </p:sp>
      <p:pic>
        <p:nvPicPr>
          <p:cNvPr id="4" name="Picture 3" descr="A blue logo with text&#10;&#10;AI-generated content may be incorrect.">
            <a:extLst>
              <a:ext uri="{FF2B5EF4-FFF2-40B4-BE49-F238E27FC236}">
                <a16:creationId xmlns:a16="http://schemas.microsoft.com/office/drawing/2014/main" id="{7D1A7723-6AD7-688D-3866-812F5A9A9E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49" y="118904"/>
            <a:ext cx="987469" cy="658313"/>
          </a:xfrm>
          <a:prstGeom prst="rect">
            <a:avLst/>
          </a:prstGeom>
        </p:spPr>
      </p:pic>
      <p:graphicFrame>
        <p:nvGraphicFramePr>
          <p:cNvPr id="5" name="Πίνακας 4">
            <a:extLst>
              <a:ext uri="{FF2B5EF4-FFF2-40B4-BE49-F238E27FC236}">
                <a16:creationId xmlns:a16="http://schemas.microsoft.com/office/drawing/2014/main" id="{E86E3AD0-C3F1-BEF7-0457-50BA5D26C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138304"/>
              </p:ext>
            </p:extLst>
          </p:nvPr>
        </p:nvGraphicFramePr>
        <p:xfrm>
          <a:off x="1533524" y="777217"/>
          <a:ext cx="7005728" cy="5964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7728">
                  <a:extLst>
                    <a:ext uri="{9D8B030D-6E8A-4147-A177-3AD203B41FA5}">
                      <a16:colId xmlns:a16="http://schemas.microsoft.com/office/drawing/2014/main" val="1453529915"/>
                    </a:ext>
                  </a:extLst>
                </a:gridCol>
                <a:gridCol w="957000">
                  <a:extLst>
                    <a:ext uri="{9D8B030D-6E8A-4147-A177-3AD203B41FA5}">
                      <a16:colId xmlns:a16="http://schemas.microsoft.com/office/drawing/2014/main" val="1316419052"/>
                    </a:ext>
                  </a:extLst>
                </a:gridCol>
                <a:gridCol w="957000">
                  <a:extLst>
                    <a:ext uri="{9D8B030D-6E8A-4147-A177-3AD203B41FA5}">
                      <a16:colId xmlns:a16="http://schemas.microsoft.com/office/drawing/2014/main" val="3708400840"/>
                    </a:ext>
                  </a:extLst>
                </a:gridCol>
                <a:gridCol w="957000">
                  <a:extLst>
                    <a:ext uri="{9D8B030D-6E8A-4147-A177-3AD203B41FA5}">
                      <a16:colId xmlns:a16="http://schemas.microsoft.com/office/drawing/2014/main" val="89375135"/>
                    </a:ext>
                  </a:extLst>
                </a:gridCol>
                <a:gridCol w="957000">
                  <a:extLst>
                    <a:ext uri="{9D8B030D-6E8A-4147-A177-3AD203B41FA5}">
                      <a16:colId xmlns:a16="http://schemas.microsoft.com/office/drawing/2014/main" val="2011611266"/>
                    </a:ext>
                  </a:extLst>
                </a:gridCol>
              </a:tblGrid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Year 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Year 2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Year 3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Year 4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2200444852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ROV Inspections – Missions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40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80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140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220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232596922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ROV Inspections – Price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5000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5500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6000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6500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1333593279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ROV Inspections – Revenue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200000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440000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840000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1430000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3779344950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2702415244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ROV Projects – Projects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5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18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25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2599569812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ROV Projects – Price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10000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12000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14000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16000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3395993799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ROV Projects – Revenue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50000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120000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252000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400000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1856913118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1474466310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Total Revenue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250000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560000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1092000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1830000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1767586424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4154004836"/>
                  </a:ext>
                </a:extLst>
              </a:tr>
              <a:tr h="2453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ROV Inspections – Equipment Cost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450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450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470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470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1379164346"/>
                  </a:ext>
                </a:extLst>
              </a:tr>
              <a:tr h="2453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ROV Inspections – Operating Cost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440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440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460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460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2992699782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ROV Inspections – Total Cost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35600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71200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130200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204600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2573177472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1632822710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ROV Projects – Equipment Cost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1600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1600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1700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1700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2207438874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ROV Projects – Operating Cost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1850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1850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1900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1900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2129794706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ROV Projects – Total Cost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17250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34500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64800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90000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2745819958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758614630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Total Cost of Goods Sold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52850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105700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195000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294600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2185340252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1772905543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Gross Profit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197150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454300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897000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1535400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3197404470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Gross Profit Margin 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78,86%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81,13%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82,14%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83,90%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1548523462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1106679181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Number of Employees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5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6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7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8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236717853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Annual Avg. Cost per Employee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22000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23500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25000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27000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1278728259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Total Personnel Costs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110000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141000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175000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216000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1331751511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Capital Investment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60000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1533507613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Marketing &amp; Sales Expenses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28000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16000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28000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44000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1542157691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Digital tools / subscriptions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7000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9000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12000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16000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4111456499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Administrative Expenses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10000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14000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18000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25000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3902761041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Insurance &amp; Compliance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6000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9000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12000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15000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2848299638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Other Expenses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5000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8000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12000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18000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3080932899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Total Fixed Costs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226000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197000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257000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334000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3243187845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1692571799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Net Profit or Loss before taxes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-28850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257300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640000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1201400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1289121050"/>
                  </a:ext>
                </a:extLst>
              </a:tr>
              <a:tr h="147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Net Profit or Loss Margin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-11,54%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45,95%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58,61%</a:t>
                      </a:r>
                      <a:endParaRPr lang="el-G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l-GR" sz="1000" u="none" strike="noStrike" dirty="0">
                          <a:effectLst/>
                        </a:rPr>
                        <a:t>65,65%</a:t>
                      </a:r>
                      <a:endParaRPr lang="el-G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98" marR="3998" marT="3998" marB="0" anchor="b"/>
                </a:tc>
                <a:extLst>
                  <a:ext uri="{0D108BD9-81ED-4DB2-BD59-A6C34878D82A}">
                    <a16:rowId xmlns:a16="http://schemas.microsoft.com/office/drawing/2014/main" val="1255346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25399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920EF-FD72-171A-5BB2-CADDF96BE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638" y="118903"/>
            <a:ext cx="8346723" cy="658313"/>
          </a:xfrm>
        </p:spPr>
        <p:txBody>
          <a:bodyPr>
            <a:noAutofit/>
          </a:bodyPr>
          <a:lstStyle/>
          <a:p>
            <a:r>
              <a:rPr lang="en-US" b="1" i="1" dirty="0"/>
              <a:t>The team</a:t>
            </a:r>
            <a:endParaRPr lang="el-GR" b="1" i="1" dirty="0"/>
          </a:p>
        </p:txBody>
      </p:sp>
      <p:pic>
        <p:nvPicPr>
          <p:cNvPr id="4" name="Picture 3" descr="A blue logo with text&#10;&#10;AI-generated content may be incorrect.">
            <a:extLst>
              <a:ext uri="{FF2B5EF4-FFF2-40B4-BE49-F238E27FC236}">
                <a16:creationId xmlns:a16="http://schemas.microsoft.com/office/drawing/2014/main" id="{0028D764-EB0B-A1EE-6C81-549D16C40B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49" y="118904"/>
            <a:ext cx="987469" cy="6583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1EC98C-C345-A227-F58B-1B3EADBBE106}"/>
              </a:ext>
            </a:extLst>
          </p:cNvPr>
          <p:cNvSpPr txBox="1"/>
          <p:nvPr/>
        </p:nvSpPr>
        <p:spPr>
          <a:xfrm>
            <a:off x="654325" y="1566952"/>
            <a:ext cx="282652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/>
              <a:t>🧑‍✈️</a:t>
            </a:r>
            <a:r>
              <a:rPr lang="en-GB" sz="2000" b="1" dirty="0"/>
              <a:t>Spyridon </a:t>
            </a:r>
            <a:r>
              <a:rPr lang="en-GB" sz="2000" b="1" dirty="0" err="1"/>
              <a:t>Chovolos</a:t>
            </a:r>
            <a:br>
              <a:rPr lang="en-GB" dirty="0"/>
            </a:br>
            <a:r>
              <a:rPr lang="en-US" dirty="0"/>
              <a:t>Founder &amp; CEO</a:t>
            </a:r>
            <a:endParaRPr lang="el-GR" dirty="0"/>
          </a:p>
          <a:p>
            <a:endParaRPr lang="el-G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Leads overall company strategy and roadmap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Drives product direction, partnerships and market positioning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Oversees technology architecture and operational execution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972B29-12C4-4A51-8BB0-CA7ED11CC747}"/>
              </a:ext>
            </a:extLst>
          </p:cNvPr>
          <p:cNvCxnSpPr>
            <a:cxnSpLocks/>
          </p:cNvCxnSpPr>
          <p:nvPr/>
        </p:nvCxnSpPr>
        <p:spPr>
          <a:xfrm>
            <a:off x="3425964" y="1258529"/>
            <a:ext cx="0" cy="483747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6452404-6282-3536-1761-77B4419F2A8C}"/>
              </a:ext>
            </a:extLst>
          </p:cNvPr>
          <p:cNvSpPr txBox="1"/>
          <p:nvPr/>
        </p:nvSpPr>
        <p:spPr>
          <a:xfrm>
            <a:off x="3535725" y="1554308"/>
            <a:ext cx="298800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/>
              <a:t>🧑‍✈️</a:t>
            </a:r>
            <a:r>
              <a:rPr lang="en-GB" sz="2000" b="1"/>
              <a:t>Dionisios Tzalokostas</a:t>
            </a:r>
            <a:endParaRPr lang="el-GR" sz="2000" b="1"/>
          </a:p>
          <a:p>
            <a:r>
              <a:rPr lang="en-US"/>
              <a:t>Co-Founder &amp; COO</a:t>
            </a:r>
            <a:endParaRPr lang="el-GR"/>
          </a:p>
          <a:p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Mission planning and operational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l-GR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Logistics, safety procedures and scaling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l-GR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Partner coordination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E4E0D8-F893-6F01-4E83-A0C50D39F91F}"/>
              </a:ext>
            </a:extLst>
          </p:cNvPr>
          <p:cNvCxnSpPr>
            <a:cxnSpLocks/>
          </p:cNvCxnSpPr>
          <p:nvPr/>
        </p:nvCxnSpPr>
        <p:spPr>
          <a:xfrm>
            <a:off x="6523732" y="1258529"/>
            <a:ext cx="0" cy="483747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72FE8B3-F5B1-B3B9-094A-34059129466C}"/>
              </a:ext>
            </a:extLst>
          </p:cNvPr>
          <p:cNvSpPr txBox="1"/>
          <p:nvPr/>
        </p:nvSpPr>
        <p:spPr>
          <a:xfrm>
            <a:off x="6633493" y="1566952"/>
            <a:ext cx="2673066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/>
              <a:t>💻</a:t>
            </a:r>
            <a:r>
              <a:rPr lang="en-GB" sz="2000" b="1" dirty="0"/>
              <a:t>Iraklis Kritikou</a:t>
            </a:r>
            <a:endParaRPr lang="el-GR" sz="2000" b="1" dirty="0"/>
          </a:p>
          <a:p>
            <a:r>
              <a:rPr lang="en-US" dirty="0"/>
              <a:t>Co-Founder &amp; CTO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Software systems and infrastructure</a:t>
            </a:r>
            <a:br>
              <a:rPr lang="en-US" dirty="0"/>
            </a:b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pipelines and reporting</a:t>
            </a:r>
            <a:br>
              <a:rPr lang="en-US" dirty="0"/>
            </a:b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Automation and cybersecurity</a:t>
            </a:r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EEB004-602D-31B1-BF74-6769F789697F}"/>
              </a:ext>
            </a:extLst>
          </p:cNvPr>
          <p:cNvSpPr txBox="1"/>
          <p:nvPr/>
        </p:nvSpPr>
        <p:spPr>
          <a:xfrm>
            <a:off x="2181752" y="6267643"/>
            <a:ext cx="704796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/>
              <a:t>Within the scope of this project, the roles are indicative and reflect a division of responsibilities rather than professional experience in a real organization.</a:t>
            </a:r>
            <a:endParaRPr lang="el-GR" sz="1100" i="1" dirty="0"/>
          </a:p>
        </p:txBody>
      </p:sp>
    </p:spTree>
    <p:extLst>
      <p:ext uri="{BB962C8B-B14F-4D97-AF65-F5344CB8AC3E}">
        <p14:creationId xmlns:p14="http://schemas.microsoft.com/office/powerpoint/2010/main" val="1409931632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Διάγραμμα ροής: Διεργασία 5">
            <a:extLst>
              <a:ext uri="{FF2B5EF4-FFF2-40B4-BE49-F238E27FC236}">
                <a16:creationId xmlns:a16="http://schemas.microsoft.com/office/drawing/2014/main" id="{7EDC755A-380B-568B-E36C-D461BF30643F}"/>
              </a:ext>
            </a:extLst>
          </p:cNvPr>
          <p:cNvSpPr/>
          <p:nvPr/>
        </p:nvSpPr>
        <p:spPr>
          <a:xfrm>
            <a:off x="5309483" y="1298164"/>
            <a:ext cx="4355659" cy="3487195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4" name="Διάγραμμα ροής: Διεργασία 3">
            <a:extLst>
              <a:ext uri="{FF2B5EF4-FFF2-40B4-BE49-F238E27FC236}">
                <a16:creationId xmlns:a16="http://schemas.microsoft.com/office/drawing/2014/main" id="{34CA56F0-9516-38FA-E36C-EED89D1342D6}"/>
              </a:ext>
            </a:extLst>
          </p:cNvPr>
          <p:cNvSpPr/>
          <p:nvPr/>
        </p:nvSpPr>
        <p:spPr>
          <a:xfrm>
            <a:off x="947562" y="1989045"/>
            <a:ext cx="3789900" cy="2234894"/>
          </a:xfrm>
          <a:prstGeom prst="flowChartProcess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7F59B-540D-C1CF-51D3-D2A87C561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900" y="1828800"/>
            <a:ext cx="3789900" cy="2395139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l-GR" sz="2000" dirty="0"/>
              <a:t>👥</a:t>
            </a:r>
            <a:r>
              <a:rPr lang="en-GB" sz="2000" b="1" dirty="0"/>
              <a:t>Key Hires Needed (Future):</a:t>
            </a:r>
          </a:p>
          <a:p>
            <a:pPr>
              <a:buClr>
                <a:schemeClr val="tx1"/>
              </a:buClr>
            </a:pPr>
            <a:r>
              <a:rPr lang="en-US" sz="1400" dirty="0"/>
              <a:t>ROV Operator / Marine Technician</a:t>
            </a:r>
            <a:endParaRPr lang="el-GR" sz="1400" dirty="0"/>
          </a:p>
          <a:p>
            <a:pPr>
              <a:buClr>
                <a:schemeClr val="tx1"/>
              </a:buClr>
            </a:pPr>
            <a:r>
              <a:rPr lang="en-US" sz="1400" dirty="0"/>
              <a:t>Business Development &amp; Sales</a:t>
            </a:r>
            <a:endParaRPr lang="el-GR" sz="1400" dirty="0"/>
          </a:p>
          <a:p>
            <a:pPr>
              <a:buClr>
                <a:schemeClr val="tx1"/>
              </a:buClr>
            </a:pPr>
            <a:r>
              <a:rPr lang="en-US" sz="1400" dirty="0"/>
              <a:t>Operations Coordinator / Project Manager</a:t>
            </a:r>
            <a:endParaRPr lang="el-GR" sz="1400" dirty="0"/>
          </a:p>
          <a:p>
            <a:pPr>
              <a:buClr>
                <a:schemeClr val="tx1"/>
              </a:buClr>
            </a:pPr>
            <a:r>
              <a:rPr lang="en-US" sz="1400" dirty="0"/>
              <a:t>Safety &amp; Compliance Advisor</a:t>
            </a:r>
            <a:endParaRPr lang="el-GR" sz="1400" dirty="0"/>
          </a:p>
          <a:p>
            <a:pPr>
              <a:buClr>
                <a:schemeClr val="tx1"/>
              </a:buClr>
            </a:pPr>
            <a:r>
              <a:rPr lang="en-US" sz="1400" dirty="0"/>
              <a:t>Data &amp; Reporting Specialist</a:t>
            </a:r>
            <a:endParaRPr lang="en-GB" sz="14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92ADD5-799D-DAEF-3074-70616BCAF27D}"/>
              </a:ext>
            </a:extLst>
          </p:cNvPr>
          <p:cNvCxnSpPr>
            <a:cxnSpLocks/>
          </p:cNvCxnSpPr>
          <p:nvPr/>
        </p:nvCxnSpPr>
        <p:spPr>
          <a:xfrm>
            <a:off x="5039360" y="1198417"/>
            <a:ext cx="0" cy="358694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E28D007-67D0-F1F5-C74E-5BB2E9225486}"/>
              </a:ext>
            </a:extLst>
          </p:cNvPr>
          <p:cNvSpPr txBox="1"/>
          <p:nvPr/>
        </p:nvSpPr>
        <p:spPr>
          <a:xfrm>
            <a:off x="5309485" y="1487486"/>
            <a:ext cx="4355685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45000"/>
            </a:pPr>
            <a:r>
              <a:rPr lang="el-GR" sz="2000" dirty="0"/>
              <a:t>🏆</a:t>
            </a:r>
            <a:r>
              <a:rPr lang="en-GB" sz="2000" b="1" dirty="0"/>
              <a:t>Why This Team Wins:</a:t>
            </a:r>
            <a:endParaRPr lang="el-GR" sz="2000" b="1" dirty="0"/>
          </a:p>
          <a:p>
            <a:pPr>
              <a:buClr>
                <a:schemeClr val="tx1"/>
              </a:buClr>
            </a:pPr>
            <a:endParaRPr lang="en-GB" sz="2000" b="1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l-GR" sz="1400" dirty="0"/>
              <a:t> </a:t>
            </a:r>
            <a:r>
              <a:rPr lang="en-GB" sz="1400" dirty="0"/>
              <a:t>Strong technical mindset and systems thinking </a:t>
            </a:r>
            <a:endParaRPr lang="el-GR" sz="14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l-GR" sz="1400" dirty="0"/>
              <a:t> </a:t>
            </a:r>
            <a:r>
              <a:rPr lang="en-GB" sz="1400" dirty="0"/>
              <a:t>High adaptability and fast learning capability </a:t>
            </a:r>
            <a:endParaRPr lang="el-GR" sz="14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l-GR" sz="1400" dirty="0"/>
              <a:t> </a:t>
            </a:r>
            <a:r>
              <a:rPr lang="en-GB" sz="1400" dirty="0"/>
              <a:t>Passion for technology, robotics and maritime innovation </a:t>
            </a:r>
            <a:endParaRPr lang="el-GR" sz="14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l-GR" sz="1400" dirty="0"/>
              <a:t> </a:t>
            </a:r>
            <a:r>
              <a:rPr lang="en-GB" sz="1400" dirty="0"/>
              <a:t>Ability to combine engineering thinking with </a:t>
            </a:r>
            <a:r>
              <a:rPr lang="en-US" sz="1400" dirty="0"/>
              <a:t>r</a:t>
            </a:r>
            <a:r>
              <a:rPr lang="en-GB" sz="1400"/>
              <a:t>eal</a:t>
            </a:r>
            <a:r>
              <a:rPr lang="el-GR" sz="1400" dirty="0"/>
              <a:t> </a:t>
            </a:r>
            <a:r>
              <a:rPr lang="en-GB" sz="1400" dirty="0"/>
              <a:t>- world operations </a:t>
            </a:r>
            <a:endParaRPr lang="el-GR" sz="14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Clr>
                <a:schemeClr val="tx1"/>
              </a:buClr>
              <a:buSzPct val="145000"/>
              <a:buFont typeface="Arial" panose="020B0604020202020204" pitchFamily="34" charset="0"/>
              <a:buChar char="•"/>
            </a:pPr>
            <a:r>
              <a:rPr lang="el-GR" sz="1400" dirty="0"/>
              <a:t> </a:t>
            </a:r>
            <a:r>
              <a:rPr lang="en-GB" sz="1400" dirty="0"/>
              <a:t>Lean, flexible and scalable team structure</a:t>
            </a:r>
          </a:p>
        </p:txBody>
      </p:sp>
      <p:pic>
        <p:nvPicPr>
          <p:cNvPr id="13" name="Picture 12" descr="A blue logo with text&#10;&#10;AI-generated content may be incorrect.">
            <a:extLst>
              <a:ext uri="{FF2B5EF4-FFF2-40B4-BE49-F238E27FC236}">
                <a16:creationId xmlns:a16="http://schemas.microsoft.com/office/drawing/2014/main" id="{527BB994-5874-062D-0ED3-C7979E74F9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49" y="118904"/>
            <a:ext cx="987469" cy="65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63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45BC5EC-9782-CEA5-87F0-7A80B14A4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056" y="1234105"/>
            <a:ext cx="8346723" cy="731519"/>
          </a:xfrm>
        </p:spPr>
        <p:txBody>
          <a:bodyPr/>
          <a:lstStyle/>
          <a:p>
            <a:r>
              <a:rPr lang="en-US" b="1" dirty="0"/>
              <a:t>Thank you</a:t>
            </a:r>
            <a:endParaRPr lang="el-GR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EC67917-0AE2-F9CE-0A61-E9DD13DA0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7988" y="3657600"/>
            <a:ext cx="4594861" cy="1316056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Any questions?</a:t>
            </a:r>
            <a:endParaRPr lang="el-GR" dirty="0"/>
          </a:p>
        </p:txBody>
      </p:sp>
      <p:pic>
        <p:nvPicPr>
          <p:cNvPr id="4" name="Picture 12" descr="A blue logo with text&#10;&#10;AI-generated content may be incorrect.">
            <a:extLst>
              <a:ext uri="{FF2B5EF4-FFF2-40B4-BE49-F238E27FC236}">
                <a16:creationId xmlns:a16="http://schemas.microsoft.com/office/drawing/2014/main" id="{CB4ABA58-9D2E-B6FF-8214-17C2F02E4E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107" y="1805464"/>
            <a:ext cx="3090622" cy="206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8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Θέμα του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Θέμα του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e086e95-335b-4756-9525-15413d7e523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Έγγραφο" ma:contentTypeID="0x0101000C6149D237F64C49A415CDB01A231C41" ma:contentTypeVersion="5" ma:contentTypeDescription="Δημιουργία νέου εγγράφου" ma:contentTypeScope="" ma:versionID="665522c1710b0dbb0fae3437f6c7c129">
  <xsd:schema xmlns:xsd="http://www.w3.org/2001/XMLSchema" xmlns:xs="http://www.w3.org/2001/XMLSchema" xmlns:p="http://schemas.microsoft.com/office/2006/metadata/properties" xmlns:ns3="7e086e95-335b-4756-9525-15413d7e5232" targetNamespace="http://schemas.microsoft.com/office/2006/metadata/properties" ma:root="true" ma:fieldsID="0f782dd6754ac550e56c83d2193d1faf" ns3:_="">
    <xsd:import namespace="7e086e95-335b-4756-9525-15413d7e523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086e95-335b-4756-9525-15413d7e523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Τύπος περιεχομένου"/>
        <xsd:element ref="dc:title" minOccurs="0" maxOccurs="1" ma:index="4" ma:displayName="Τίτλο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FC5BF9-4EFF-44D5-A947-DA6FF7A34466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7e086e95-335b-4756-9525-15413d7e523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992E920-D9FA-4C28-9BBE-3DC074484826}">
  <ds:schemaRefs>
    <ds:schemaRef ds:uri="7e086e95-335b-4756-9525-15413d7e523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42D8B63-2755-4C9A-97A5-0774EEB048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727</TotalTime>
  <Words>2001</Words>
  <Application>Microsoft Office PowerPoint</Application>
  <PresentationFormat>Χαρτί Α4 (210x297 χιλ.)</PresentationFormat>
  <Paragraphs>518</Paragraphs>
  <Slides>21</Slides>
  <Notes>2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7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21</vt:i4>
      </vt:variant>
    </vt:vector>
  </HeadingPairs>
  <TitlesOfParts>
    <vt:vector size="29" baseType="lpstr">
      <vt:lpstr>Arial</vt:lpstr>
      <vt:lpstr>Arial Black</vt:lpstr>
      <vt:lpstr>Calibri</vt:lpstr>
      <vt:lpstr>Corbel</vt:lpstr>
      <vt:lpstr>Lucida Bright</vt:lpstr>
      <vt:lpstr>Times New Roman</vt:lpstr>
      <vt:lpstr>Wingdings</vt:lpstr>
      <vt:lpstr>Parallax</vt:lpstr>
      <vt:lpstr> OceanDrones Dive Deeper. Discover More. </vt:lpstr>
      <vt:lpstr>Ocean Drones – Professional Underwater Drone Services</vt:lpstr>
      <vt:lpstr>The problem</vt:lpstr>
      <vt:lpstr>The Solution</vt:lpstr>
      <vt:lpstr>Παρουσίαση του PowerPoint</vt:lpstr>
      <vt:lpstr>The Market</vt:lpstr>
      <vt:lpstr>Competition and Differentiation </vt:lpstr>
      <vt:lpstr>Go-to-Market Strategy</vt:lpstr>
      <vt:lpstr>Παρουσίαση του PowerPoint</vt:lpstr>
      <vt:lpstr>Technology / Intellectual Property</vt:lpstr>
      <vt:lpstr>Παρουσίαση του PowerPoint</vt:lpstr>
      <vt:lpstr>Pricing and Revenue</vt:lpstr>
      <vt:lpstr>Παρουσίαση του PowerPoint</vt:lpstr>
      <vt:lpstr>Cost Structure</vt:lpstr>
      <vt:lpstr>Παρουσίαση του PowerPoint</vt:lpstr>
      <vt:lpstr>Roadmap</vt:lpstr>
      <vt:lpstr>Παρουσίαση του PowerPoint</vt:lpstr>
      <vt:lpstr>Financials </vt:lpstr>
      <vt:lpstr>The team</vt:lpstr>
      <vt:lpstr>Παρουσίαση του PowerPoint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TOSHIBA</dc:creator>
  <cp:lastModifiedBy>SPYRIDON CHOVOLOS</cp:lastModifiedBy>
  <cp:revision>7</cp:revision>
  <dcterms:created xsi:type="dcterms:W3CDTF">2000-09-04T12:53:33Z</dcterms:created>
  <dcterms:modified xsi:type="dcterms:W3CDTF">2026-03-05T11:10:43Z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0x0101000C6149D237F64C49A415CDB01A231C41</vt:lpwstr>
  </property>
</Properties>
</file>